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4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24.xml" ContentType="application/inkml+xml"/>
  <Override PartName="/ppt/ink/ink25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6" r:id="rId3"/>
    <p:sldId id="258" r:id="rId4"/>
    <p:sldId id="259" r:id="rId5"/>
    <p:sldId id="260" r:id="rId6"/>
    <p:sldId id="262" r:id="rId7"/>
    <p:sldId id="263" r:id="rId8"/>
    <p:sldId id="264" r:id="rId9"/>
    <p:sldId id="270" r:id="rId10"/>
    <p:sldId id="271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Inter" panose="020B0604020202020204" charset="0"/>
      <p:regular r:id="rId17"/>
    </p:embeddedFont>
    <p:embeddedFont>
      <p:font typeface="Kanit Light" panose="020B0604020202020204" charset="-34"/>
      <p:regular r:id="rId18"/>
    </p:embeddedFont>
    <p:embeddedFont>
      <p:font typeface="Martel Sans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D7280E9-F152-4403-BA95-DDC86820FE05}">
          <p14:sldIdLst>
            <p14:sldId id="257"/>
            <p14:sldId id="256"/>
            <p14:sldId id="258"/>
            <p14:sldId id="259"/>
            <p14:sldId id="260"/>
            <p14:sldId id="262"/>
            <p14:sldId id="263"/>
            <p14:sldId id="264"/>
            <p14:sldId id="270"/>
            <p14:sldId id="271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DFE330-05C8-4A9B-8602-AB8B7EB9C54D}" v="5" dt="2026-09-11T11:13:49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en-IN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Validation Loss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0.96440000000000003</c:v>
                </c:pt>
                <c:pt idx="1">
                  <c:v>0.72470000000000001</c:v>
                </c:pt>
                <c:pt idx="2">
                  <c:v>0.70569999999999999</c:v>
                </c:pt>
                <c:pt idx="3">
                  <c:v>0.70369999999999999</c:v>
                </c:pt>
                <c:pt idx="4">
                  <c:v>0.69879999999999998</c:v>
                </c:pt>
                <c:pt idx="5">
                  <c:v>0.69469999999999998</c:v>
                </c:pt>
                <c:pt idx="6">
                  <c:v>0.6925</c:v>
                </c:pt>
                <c:pt idx="7">
                  <c:v>0.68789999999999996</c:v>
                </c:pt>
                <c:pt idx="8">
                  <c:v>0.68179999999999996</c:v>
                </c:pt>
                <c:pt idx="9">
                  <c:v>0.67679999999999996</c:v>
                </c:pt>
                <c:pt idx="10">
                  <c:v>0.6724</c:v>
                </c:pt>
                <c:pt idx="11">
                  <c:v>0.66879999999999995</c:v>
                </c:pt>
                <c:pt idx="12">
                  <c:v>0.66559999999999997</c:v>
                </c:pt>
                <c:pt idx="13">
                  <c:v>0.66279999999999994</c:v>
                </c:pt>
                <c:pt idx="14">
                  <c:v>0.66039999999999999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E1-4E1F-A700-66AD81484D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0.7097</c:v>
                </c:pt>
                <c:pt idx="1">
                  <c:v>0.64810000000000001</c:v>
                </c:pt>
                <c:pt idx="2">
                  <c:v>0.64470000000000005</c:v>
                </c:pt>
                <c:pt idx="3">
                  <c:v>0.64700000000000002</c:v>
                </c:pt>
                <c:pt idx="4">
                  <c:v>0.65380000000000005</c:v>
                </c:pt>
                <c:pt idx="5">
                  <c:v>0.65380000000000005</c:v>
                </c:pt>
                <c:pt idx="6">
                  <c:v>0.65480000000000005</c:v>
                </c:pt>
                <c:pt idx="7">
                  <c:v>0.65159999999999996</c:v>
                </c:pt>
                <c:pt idx="8">
                  <c:v>0.65029999999999999</c:v>
                </c:pt>
                <c:pt idx="9">
                  <c:v>0.64490000000000003</c:v>
                </c:pt>
                <c:pt idx="10">
                  <c:v>0.64170000000000005</c:v>
                </c:pt>
                <c:pt idx="11">
                  <c:v>0.63949999999999996</c:v>
                </c:pt>
                <c:pt idx="12">
                  <c:v>0.63729999999999998</c:v>
                </c:pt>
                <c:pt idx="13">
                  <c:v>0.63400000000000001</c:v>
                </c:pt>
                <c:pt idx="14">
                  <c:v>0.6331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E1-4E1F-A700-66AD81484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4987424"/>
        <c:axId val="1180254895"/>
      </c:lineChart>
      <c:catAx>
        <c:axId val="764987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0254895"/>
        <c:crosses val="autoZero"/>
        <c:auto val="1"/>
        <c:lblAlgn val="ctr"/>
        <c:lblOffset val="100"/>
        <c:noMultiLvlLbl val="0"/>
      </c:catAx>
      <c:valAx>
        <c:axId val="1180254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9874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64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F5810E-EA99-4B96-94E2-49AAF874E306}" type="doc">
      <dgm:prSet loTypeId="urn:microsoft.com/office/officeart/2026/layout/TextCardShortLine" loCatId="textcard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4675D608-3A00-4B2F-B10A-FBE14CB72E5D}">
      <dgm:prSet phldrT="Title" custT="1"/>
      <dgm:spPr/>
      <dgm:t>
        <a:bodyPr/>
        <a:lstStyle/>
        <a:p>
          <a:pPr>
            <a:defRPr b="1"/>
          </a:pPr>
          <a:r>
            <a:rPr lang="en-US" sz="2400" b="1" dirty="0">
              <a:solidFill>
                <a:srgbClr val="272D45"/>
              </a:solidFill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rPr>
            <a:t>Computational Property Estimates</a:t>
          </a:r>
          <a:endParaRPr lang="en-IN" sz="2400" dirty="0"/>
        </a:p>
      </dgm:t>
    </dgm:pt>
    <dgm:pt modelId="{8DB2CE48-E61F-452C-B9BE-CCB29F41E14A}" type="parTrans" cxnId="{71ABD6DD-35C1-46C7-9C25-8159E5AB07C7}">
      <dgm:prSet/>
      <dgm:spPr/>
      <dgm:t>
        <a:bodyPr/>
        <a:lstStyle/>
        <a:p>
          <a:endParaRPr lang="en-IN"/>
        </a:p>
      </dgm:t>
    </dgm:pt>
    <dgm:pt modelId="{A8566934-0B6F-417E-B462-4B347FC51772}" type="sibTrans" cxnId="{71ABD6DD-35C1-46C7-9C25-8159E5AB07C7}">
      <dgm:prSet/>
      <dgm:spPr/>
      <dgm:t>
        <a:bodyPr/>
        <a:lstStyle/>
        <a:p>
          <a:endParaRPr lang="en-IN"/>
        </a:p>
      </dgm:t>
    </dgm:pt>
    <dgm:pt modelId="{6543F659-D28F-43BA-A013-981E54217EBD}">
      <dgm:prSet phldrT="Description" custT="1"/>
      <dgm:spPr/>
      <dgm:t>
        <a:bodyPr/>
        <a:lstStyle/>
        <a:p>
          <a:r>
            <a:rPr lang="en-US" sz="20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QED, SA, and </a:t>
          </a:r>
          <a:r>
            <a:rPr lang="en-US" sz="2000" dirty="0" err="1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LogP</a:t>
          </a:r>
          <a:r>
            <a:rPr lang="en-US" sz="20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 are only in silico proxies.</a:t>
          </a:r>
          <a:endParaRPr lang="en-IN" sz="2000" dirty="0"/>
        </a:p>
      </dgm:t>
    </dgm:pt>
    <dgm:pt modelId="{4A0D00E1-2FF5-4EB1-B37F-A43621F77FA0}" type="parTrans" cxnId="{8D84B981-9718-4615-B31A-081DCA2B32B4}">
      <dgm:prSet/>
      <dgm:spPr/>
      <dgm:t>
        <a:bodyPr/>
        <a:lstStyle/>
        <a:p>
          <a:endParaRPr lang="en-IN"/>
        </a:p>
      </dgm:t>
    </dgm:pt>
    <dgm:pt modelId="{20B0BAAF-977E-4E23-8FF2-B5203D909573}" type="sibTrans" cxnId="{8D84B981-9718-4615-B31A-081DCA2B32B4}">
      <dgm:prSet/>
      <dgm:spPr/>
      <dgm:t>
        <a:bodyPr/>
        <a:lstStyle/>
        <a:p>
          <a:endParaRPr lang="en-IN"/>
        </a:p>
      </dgm:t>
    </dgm:pt>
    <dgm:pt modelId="{CD7E1BD7-53F3-4F26-A8A0-198818B04A63}">
      <dgm:prSet phldrT="Title" custT="1"/>
      <dgm:spPr/>
      <dgm:t>
        <a:bodyPr/>
        <a:lstStyle/>
        <a:p>
          <a:pPr>
            <a:defRPr b="1"/>
          </a:pPr>
          <a:r>
            <a:rPr lang="en-US" sz="2400" b="1" dirty="0">
              <a:solidFill>
                <a:srgbClr val="272D45"/>
              </a:solidFill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rPr>
            <a:t>Lack of Experimental Validation</a:t>
          </a:r>
          <a:endParaRPr lang="en-IN" sz="2400" dirty="0"/>
        </a:p>
      </dgm:t>
    </dgm:pt>
    <dgm:pt modelId="{7E41C312-649A-47FE-83A1-D34F6C88FC89}" type="parTrans" cxnId="{02859202-BA0D-4FC8-8CC7-CA7099B4D55A}">
      <dgm:prSet/>
      <dgm:spPr/>
      <dgm:t>
        <a:bodyPr/>
        <a:lstStyle/>
        <a:p>
          <a:endParaRPr lang="en-IN"/>
        </a:p>
      </dgm:t>
    </dgm:pt>
    <dgm:pt modelId="{60C9A2BF-4F1E-4C9C-A6D8-29153ABEB3A8}" type="sibTrans" cxnId="{02859202-BA0D-4FC8-8CC7-CA7099B4D55A}">
      <dgm:prSet/>
      <dgm:spPr/>
      <dgm:t>
        <a:bodyPr/>
        <a:lstStyle/>
        <a:p>
          <a:endParaRPr lang="en-IN"/>
        </a:p>
      </dgm:t>
    </dgm:pt>
    <dgm:pt modelId="{92471986-2DD3-42AE-B4E3-68FA33FFAFA9}">
      <dgm:prSet phldrT="Description" custT="1"/>
      <dgm:spPr/>
      <dgm:t>
        <a:bodyPr/>
        <a:lstStyle/>
        <a:p>
          <a:r>
            <a:rPr lang="en-US" sz="20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Nothing has been synthesized or tested in the lab.</a:t>
          </a:r>
          <a:endParaRPr lang="en-IN" sz="2000" dirty="0"/>
        </a:p>
      </dgm:t>
    </dgm:pt>
    <dgm:pt modelId="{79F10B6B-FF60-4727-A52E-93906E5404C4}" type="parTrans" cxnId="{AB624B34-8B1C-440D-B3D0-1FAED7957675}">
      <dgm:prSet/>
      <dgm:spPr/>
      <dgm:t>
        <a:bodyPr/>
        <a:lstStyle/>
        <a:p>
          <a:endParaRPr lang="en-IN"/>
        </a:p>
      </dgm:t>
    </dgm:pt>
    <dgm:pt modelId="{2B7C2C07-F868-4ECB-8838-7BF9B5F4AC43}" type="sibTrans" cxnId="{AB624B34-8B1C-440D-B3D0-1FAED7957675}">
      <dgm:prSet/>
      <dgm:spPr/>
      <dgm:t>
        <a:bodyPr/>
        <a:lstStyle/>
        <a:p>
          <a:endParaRPr lang="en-IN"/>
        </a:p>
      </dgm:t>
    </dgm:pt>
    <dgm:pt modelId="{1B132F8C-7F5B-496A-8530-8B8893B538DC}">
      <dgm:prSet phldrT="Title" custT="1"/>
      <dgm:spPr/>
      <dgm:t>
        <a:bodyPr/>
        <a:lstStyle/>
        <a:p>
          <a:pPr>
            <a:defRPr b="1"/>
          </a:pPr>
          <a:r>
            <a:rPr lang="en-US" sz="2400" b="1" dirty="0">
              <a:solidFill>
                <a:srgbClr val="272D45"/>
              </a:solidFill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rPr>
            <a:t>No Biological Activity Evidence</a:t>
          </a:r>
          <a:endParaRPr lang="en-IN" sz="2400" dirty="0"/>
        </a:p>
      </dgm:t>
    </dgm:pt>
    <dgm:pt modelId="{2FFFB613-660F-4132-A936-70A39F26393C}" type="parTrans" cxnId="{741777CB-3290-46D6-A0D8-798AE55C6061}">
      <dgm:prSet/>
      <dgm:spPr/>
      <dgm:t>
        <a:bodyPr/>
        <a:lstStyle/>
        <a:p>
          <a:endParaRPr lang="en-IN"/>
        </a:p>
      </dgm:t>
    </dgm:pt>
    <dgm:pt modelId="{5C52E0A2-0677-491D-B84F-0CC7B9802DA5}" type="sibTrans" cxnId="{741777CB-3290-46D6-A0D8-798AE55C6061}">
      <dgm:prSet/>
      <dgm:spPr/>
      <dgm:t>
        <a:bodyPr/>
        <a:lstStyle/>
        <a:p>
          <a:endParaRPr lang="en-IN"/>
        </a:p>
      </dgm:t>
    </dgm:pt>
    <dgm:pt modelId="{F541E678-4022-4C11-AF5A-1175F0F025D1}">
      <dgm:prSet phldrT="Description" custT="1"/>
      <dgm:spPr/>
      <dgm:t>
        <a:bodyPr/>
        <a:lstStyle/>
        <a:p>
          <a:r>
            <a:rPr lang="en-US" sz="20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No biological activity or therapeutic effect is shown</a:t>
          </a:r>
          <a:r>
            <a:rPr lang="en-US" sz="14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.</a:t>
          </a:r>
          <a:endParaRPr lang="en-IN" sz="1400" dirty="0"/>
        </a:p>
      </dgm:t>
    </dgm:pt>
    <dgm:pt modelId="{F764025F-1DEA-4655-AAAF-6ED31ED6E0D9}" type="parTrans" cxnId="{AF076876-2791-41D8-BB26-DEF392AC6382}">
      <dgm:prSet/>
      <dgm:spPr/>
      <dgm:t>
        <a:bodyPr/>
        <a:lstStyle/>
        <a:p>
          <a:endParaRPr lang="en-IN"/>
        </a:p>
      </dgm:t>
    </dgm:pt>
    <dgm:pt modelId="{0A528879-9D78-4E27-8692-AEFB6121C9DD}" type="sibTrans" cxnId="{AF076876-2791-41D8-BB26-DEF392AC6382}">
      <dgm:prSet/>
      <dgm:spPr/>
      <dgm:t>
        <a:bodyPr/>
        <a:lstStyle/>
        <a:p>
          <a:endParaRPr lang="en-IN"/>
        </a:p>
      </dgm:t>
    </dgm:pt>
    <dgm:pt modelId="{C61BB3E9-119C-4489-AFF1-9481544A5DD3}">
      <dgm:prSet phldrT="Title" custT="1"/>
      <dgm:spPr/>
      <dgm:t>
        <a:bodyPr/>
        <a:lstStyle/>
        <a:p>
          <a:pPr>
            <a:defRPr b="1"/>
          </a:pPr>
          <a:r>
            <a:rPr lang="en-US" sz="2400" b="1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Synthesizability &amp; Practical Feasibility</a:t>
          </a:r>
          <a:endParaRPr lang="en-IN" sz="2400" dirty="0"/>
        </a:p>
      </dgm:t>
    </dgm:pt>
    <dgm:pt modelId="{821F4A18-0875-484F-ABF8-53555A569D57}" type="parTrans" cxnId="{9C3DAF57-E1D4-4551-981F-C71B68B4C05D}">
      <dgm:prSet/>
      <dgm:spPr/>
      <dgm:t>
        <a:bodyPr/>
        <a:lstStyle/>
        <a:p>
          <a:endParaRPr lang="en-IN"/>
        </a:p>
      </dgm:t>
    </dgm:pt>
    <dgm:pt modelId="{90B3F6EE-E824-4E57-9445-7372A80507D4}" type="sibTrans" cxnId="{9C3DAF57-E1D4-4551-981F-C71B68B4C05D}">
      <dgm:prSet/>
      <dgm:spPr/>
      <dgm:t>
        <a:bodyPr/>
        <a:lstStyle/>
        <a:p>
          <a:endParaRPr lang="en-IN"/>
        </a:p>
      </dgm:t>
    </dgm:pt>
    <dgm:pt modelId="{7DDDE499-0B54-4EA4-933E-0087720A7517}">
      <dgm:prSet phldrT="Description" custT="1"/>
      <dgm:spPr/>
      <dgm:t>
        <a:bodyPr/>
        <a:lstStyle/>
        <a:p>
          <a:r>
            <a:rPr lang="en-US" sz="20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Feasibility still needs further evaluation.</a:t>
          </a:r>
          <a:endParaRPr lang="en-IN" sz="2000" dirty="0"/>
        </a:p>
      </dgm:t>
    </dgm:pt>
    <dgm:pt modelId="{A53750A1-BFC9-4BB4-B3C0-74617B7EC3C1}" type="parTrans" cxnId="{5596B13A-1303-4681-A607-51FB53232528}">
      <dgm:prSet/>
      <dgm:spPr/>
      <dgm:t>
        <a:bodyPr/>
        <a:lstStyle/>
        <a:p>
          <a:endParaRPr lang="en-IN"/>
        </a:p>
      </dgm:t>
    </dgm:pt>
    <dgm:pt modelId="{D86D1EBF-9802-4427-9834-88B08D2A9DFA}" type="sibTrans" cxnId="{5596B13A-1303-4681-A607-51FB53232528}">
      <dgm:prSet/>
      <dgm:spPr/>
      <dgm:t>
        <a:bodyPr/>
        <a:lstStyle/>
        <a:p>
          <a:endParaRPr lang="en-IN"/>
        </a:p>
      </dgm:t>
    </dgm:pt>
    <dgm:pt modelId="{F2F19D40-46EE-49FF-B905-E0A02907349C}" type="pres">
      <dgm:prSet presAssocID="{29F5810E-EA99-4B96-94E2-49AAF874E306}" presName="root" presStyleCnt="0">
        <dgm:presLayoutVars>
          <dgm:dir/>
          <dgm:resizeHandles val="exact"/>
        </dgm:presLayoutVars>
      </dgm:prSet>
      <dgm:spPr/>
    </dgm:pt>
    <dgm:pt modelId="{F0F55D0A-0E4F-46E4-A5D0-367B8A595D6C}" type="pres">
      <dgm:prSet presAssocID="{4675D608-3A00-4B2F-B10A-FBE14CB72E5D}" presName="compNode" presStyleCnt="0"/>
      <dgm:spPr/>
    </dgm:pt>
    <dgm:pt modelId="{4F9360D0-E501-4FBE-B403-8B3631CDF134}" type="pres">
      <dgm:prSet presAssocID="{4675D608-3A00-4B2F-B10A-FBE14CB72E5D}" presName="accentLine" presStyleLbl="dkBgShp" presStyleIdx="0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1AA9622D-62E4-4CBA-80DF-A067973A1745}" type="pres">
      <dgm:prSet presAssocID="{4675D608-3A00-4B2F-B10A-FBE14CB72E5D}" presName="titleText" presStyleLbl="revTx" presStyleIdx="0" presStyleCnt="8">
        <dgm:presLayoutVars>
          <dgm:chMax val="0"/>
          <dgm:chPref val="0"/>
        </dgm:presLayoutVars>
      </dgm:prSet>
      <dgm:spPr/>
    </dgm:pt>
    <dgm:pt modelId="{E4F1B567-CDF0-4E6F-A201-F72CE23C913C}" type="pres">
      <dgm:prSet presAssocID="{4675D608-3A00-4B2F-B10A-FBE14CB72E5D}" presName="bodyText" presStyleLbl="revTx" presStyleIdx="1" presStyleCnt="8" custLinFactNeighborX="-250" custLinFactNeighborY="9013">
        <dgm:presLayoutVars>
          <dgm:chMax val="0"/>
          <dgm:chPref val="0"/>
        </dgm:presLayoutVars>
      </dgm:prSet>
      <dgm:spPr/>
    </dgm:pt>
    <dgm:pt modelId="{56922E89-9F78-44B3-90CA-9BA01E1FD44F}" type="pres">
      <dgm:prSet presAssocID="{A8566934-0B6F-417E-B462-4B347FC51772}" presName="sibTrans" presStyleCnt="0"/>
      <dgm:spPr/>
    </dgm:pt>
    <dgm:pt modelId="{341A77A6-9422-4650-95A1-80842D1FBA4E}" type="pres">
      <dgm:prSet presAssocID="{CD7E1BD7-53F3-4F26-A8A0-198818B04A63}" presName="compNode" presStyleCnt="0"/>
      <dgm:spPr/>
    </dgm:pt>
    <dgm:pt modelId="{7452D30C-D84E-4A7D-B144-65EF99C09308}" type="pres">
      <dgm:prSet presAssocID="{CD7E1BD7-53F3-4F26-A8A0-198818B04A63}" presName="accentLine" presStyleLbl="dkBgShp" presStyleIdx="1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E32B9064-DCBA-44A3-94C1-1FD2C97236A3}" type="pres">
      <dgm:prSet presAssocID="{CD7E1BD7-53F3-4F26-A8A0-198818B04A63}" presName="titleText" presStyleLbl="revTx" presStyleIdx="2" presStyleCnt="8">
        <dgm:presLayoutVars>
          <dgm:chMax val="0"/>
          <dgm:chPref val="0"/>
        </dgm:presLayoutVars>
      </dgm:prSet>
      <dgm:spPr/>
    </dgm:pt>
    <dgm:pt modelId="{5D6A1A25-B3EF-4F01-B9D2-D9A6CD9B8DD9}" type="pres">
      <dgm:prSet presAssocID="{CD7E1BD7-53F3-4F26-A8A0-198818B04A63}" presName="bodyText" presStyleLbl="revTx" presStyleIdx="3" presStyleCnt="8" custLinFactNeighborX="-1243" custLinFactNeighborY="9013">
        <dgm:presLayoutVars>
          <dgm:chMax val="0"/>
          <dgm:chPref val="0"/>
        </dgm:presLayoutVars>
      </dgm:prSet>
      <dgm:spPr/>
    </dgm:pt>
    <dgm:pt modelId="{C261DD5F-492B-440C-9D7E-E092CE5E8394}" type="pres">
      <dgm:prSet presAssocID="{60C9A2BF-4F1E-4C9C-A6D8-29153ABEB3A8}" presName="sibTrans" presStyleCnt="0"/>
      <dgm:spPr/>
    </dgm:pt>
    <dgm:pt modelId="{95A243B0-16F3-42EB-86FF-B6D36268CB49}" type="pres">
      <dgm:prSet presAssocID="{1B132F8C-7F5B-496A-8530-8B8893B538DC}" presName="compNode" presStyleCnt="0"/>
      <dgm:spPr/>
    </dgm:pt>
    <dgm:pt modelId="{5D8B48A4-DAAD-4566-B14B-4602AC122AAE}" type="pres">
      <dgm:prSet presAssocID="{1B132F8C-7F5B-496A-8530-8B8893B538DC}" presName="accentLine" presStyleLbl="dkBgShp" presStyleIdx="2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94449229-BA29-4888-91D9-787F28A05220}" type="pres">
      <dgm:prSet presAssocID="{1B132F8C-7F5B-496A-8530-8B8893B538DC}" presName="titleText" presStyleLbl="revTx" presStyleIdx="4" presStyleCnt="8" custLinFactNeighborX="-828" custLinFactNeighborY="1072">
        <dgm:presLayoutVars>
          <dgm:chMax val="0"/>
          <dgm:chPref val="0"/>
        </dgm:presLayoutVars>
      </dgm:prSet>
      <dgm:spPr/>
    </dgm:pt>
    <dgm:pt modelId="{12D715EF-F108-4586-A9CC-6D9EAA896B88}" type="pres">
      <dgm:prSet presAssocID="{1B132F8C-7F5B-496A-8530-8B8893B538DC}" presName="bodyText" presStyleLbl="revTx" presStyleIdx="5" presStyleCnt="8" custLinFactNeighborX="-414" custLinFactNeighborY="9013">
        <dgm:presLayoutVars>
          <dgm:chMax val="0"/>
          <dgm:chPref val="0"/>
        </dgm:presLayoutVars>
      </dgm:prSet>
      <dgm:spPr/>
    </dgm:pt>
    <dgm:pt modelId="{F8EF8A15-692C-4896-98D5-D3C4B6316710}" type="pres">
      <dgm:prSet presAssocID="{5C52E0A2-0677-491D-B84F-0CC7B9802DA5}" presName="sibTrans" presStyleCnt="0"/>
      <dgm:spPr/>
    </dgm:pt>
    <dgm:pt modelId="{E9D9C002-0198-4B66-BA11-163421A390C3}" type="pres">
      <dgm:prSet presAssocID="{C61BB3E9-119C-4489-AFF1-9481544A5DD3}" presName="compNode" presStyleCnt="0"/>
      <dgm:spPr/>
    </dgm:pt>
    <dgm:pt modelId="{ACF57909-BE02-408C-84DF-1641C013969C}" type="pres">
      <dgm:prSet presAssocID="{C61BB3E9-119C-4489-AFF1-9481544A5DD3}" presName="accentLine" presStyleLbl="dkBgShp" presStyleIdx="3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154A72F3-60C2-4087-A800-A1D985F106A0}" type="pres">
      <dgm:prSet presAssocID="{C61BB3E9-119C-4489-AFF1-9481544A5DD3}" presName="titleText" presStyleLbl="revTx" presStyleIdx="6" presStyleCnt="8" custLinFactNeighborX="-829" custLinFactNeighborY="-474">
        <dgm:presLayoutVars>
          <dgm:chMax val="0"/>
          <dgm:chPref val="0"/>
        </dgm:presLayoutVars>
      </dgm:prSet>
      <dgm:spPr/>
    </dgm:pt>
    <dgm:pt modelId="{F36767DB-9636-41AB-8A4D-E3AB9E1A92FC}" type="pres">
      <dgm:prSet presAssocID="{C61BB3E9-119C-4489-AFF1-9481544A5DD3}" presName="bodyText" presStyleLbl="revTx" presStyleIdx="7" presStyleCnt="8" custLinFactNeighborX="-1243" custLinFactNeighborY="10935">
        <dgm:presLayoutVars>
          <dgm:chMax val="0"/>
          <dgm:chPref val="0"/>
        </dgm:presLayoutVars>
      </dgm:prSet>
      <dgm:spPr/>
    </dgm:pt>
  </dgm:ptLst>
  <dgm:cxnLst>
    <dgm:cxn modelId="{02859202-BA0D-4FC8-8CC7-CA7099B4D55A}" srcId="{29F5810E-EA99-4B96-94E2-49AAF874E306}" destId="{CD7E1BD7-53F3-4F26-A8A0-198818B04A63}" srcOrd="1" destOrd="0" parTransId="{7E41C312-649A-47FE-83A1-D34F6C88FC89}" sibTransId="{60C9A2BF-4F1E-4C9C-A6D8-29153ABEB3A8}"/>
    <dgm:cxn modelId="{C0D37E12-AA02-4F9C-9171-80BAEAAFFD67}" type="presOf" srcId="{6543F659-D28F-43BA-A013-981E54217EBD}" destId="{E4F1B567-CDF0-4E6F-A201-F72CE23C913C}" srcOrd="0" destOrd="0" presId="urn:microsoft.com/office/officeart/2026/layout/TextCardShortLine"/>
    <dgm:cxn modelId="{302FE117-3BAB-4CFA-806A-B1DAC09BD46B}" type="presOf" srcId="{29F5810E-EA99-4B96-94E2-49AAF874E306}" destId="{F2F19D40-46EE-49FF-B905-E0A02907349C}" srcOrd="0" destOrd="0" presId="urn:microsoft.com/office/officeart/2026/layout/TextCardShortLine"/>
    <dgm:cxn modelId="{AB624B34-8B1C-440D-B3D0-1FAED7957675}" srcId="{CD7E1BD7-53F3-4F26-A8A0-198818B04A63}" destId="{92471986-2DD3-42AE-B4E3-68FA33FFAFA9}" srcOrd="0" destOrd="0" parTransId="{79F10B6B-FF60-4727-A52E-93906E5404C4}" sibTransId="{2B7C2C07-F868-4ECB-8838-7BF9B5F4AC43}"/>
    <dgm:cxn modelId="{5596B13A-1303-4681-A607-51FB53232528}" srcId="{C61BB3E9-119C-4489-AFF1-9481544A5DD3}" destId="{7DDDE499-0B54-4EA4-933E-0087720A7517}" srcOrd="0" destOrd="0" parTransId="{A53750A1-BFC9-4BB4-B3C0-74617B7EC3C1}" sibTransId="{D86D1EBF-9802-4427-9834-88B08D2A9DFA}"/>
    <dgm:cxn modelId="{F1C94B48-42B8-4BD8-B39E-36DB58E8F88C}" type="presOf" srcId="{92471986-2DD3-42AE-B4E3-68FA33FFAFA9}" destId="{5D6A1A25-B3EF-4F01-B9D2-D9A6CD9B8DD9}" srcOrd="0" destOrd="0" presId="urn:microsoft.com/office/officeart/2026/layout/TextCardShortLine"/>
    <dgm:cxn modelId="{AF076876-2791-41D8-BB26-DEF392AC6382}" srcId="{1B132F8C-7F5B-496A-8530-8B8893B538DC}" destId="{F541E678-4022-4C11-AF5A-1175F0F025D1}" srcOrd="0" destOrd="0" parTransId="{F764025F-1DEA-4655-AAAF-6ED31ED6E0D9}" sibTransId="{0A528879-9D78-4E27-8692-AEFB6121C9DD}"/>
    <dgm:cxn modelId="{9C3DAF57-E1D4-4551-981F-C71B68B4C05D}" srcId="{29F5810E-EA99-4B96-94E2-49AAF874E306}" destId="{C61BB3E9-119C-4489-AFF1-9481544A5DD3}" srcOrd="3" destOrd="0" parTransId="{821F4A18-0875-484F-ABF8-53555A569D57}" sibTransId="{90B3F6EE-E824-4E57-9445-7372A80507D4}"/>
    <dgm:cxn modelId="{058D0978-47F8-4EB7-AD9D-BF3E86C6C507}" type="presOf" srcId="{F541E678-4022-4C11-AF5A-1175F0F025D1}" destId="{12D715EF-F108-4586-A9CC-6D9EAA896B88}" srcOrd="0" destOrd="0" presId="urn:microsoft.com/office/officeart/2026/layout/TextCardShortLine"/>
    <dgm:cxn modelId="{49D48581-FF47-4FE6-B6E0-16869A8CB586}" type="presOf" srcId="{4675D608-3A00-4B2F-B10A-FBE14CB72E5D}" destId="{1AA9622D-62E4-4CBA-80DF-A067973A1745}" srcOrd="0" destOrd="0" presId="urn:microsoft.com/office/officeart/2026/layout/TextCardShortLine"/>
    <dgm:cxn modelId="{8D84B981-9718-4615-B31A-081DCA2B32B4}" srcId="{4675D608-3A00-4B2F-B10A-FBE14CB72E5D}" destId="{6543F659-D28F-43BA-A013-981E54217EBD}" srcOrd="0" destOrd="0" parTransId="{4A0D00E1-2FF5-4EB1-B37F-A43621F77FA0}" sibTransId="{20B0BAAF-977E-4E23-8FF2-B5203D909573}"/>
    <dgm:cxn modelId="{B65CBA84-2A46-449D-8F98-D3C674F8BE6E}" type="presOf" srcId="{C61BB3E9-119C-4489-AFF1-9481544A5DD3}" destId="{154A72F3-60C2-4087-A800-A1D985F106A0}" srcOrd="0" destOrd="0" presId="urn:microsoft.com/office/officeart/2026/layout/TextCardShortLine"/>
    <dgm:cxn modelId="{11047796-B525-4718-9194-FEE32487988F}" type="presOf" srcId="{CD7E1BD7-53F3-4F26-A8A0-198818B04A63}" destId="{E32B9064-DCBA-44A3-94C1-1FD2C97236A3}" srcOrd="0" destOrd="0" presId="urn:microsoft.com/office/officeart/2026/layout/TextCardShortLine"/>
    <dgm:cxn modelId="{741777CB-3290-46D6-A0D8-798AE55C6061}" srcId="{29F5810E-EA99-4B96-94E2-49AAF874E306}" destId="{1B132F8C-7F5B-496A-8530-8B8893B538DC}" srcOrd="2" destOrd="0" parTransId="{2FFFB613-660F-4132-A936-70A39F26393C}" sibTransId="{5C52E0A2-0677-491D-B84F-0CC7B9802DA5}"/>
    <dgm:cxn modelId="{EBE5D0D4-EA17-4032-9169-E3AD032A1F66}" type="presOf" srcId="{7DDDE499-0B54-4EA4-933E-0087720A7517}" destId="{F36767DB-9636-41AB-8A4D-E3AB9E1A92FC}" srcOrd="0" destOrd="0" presId="urn:microsoft.com/office/officeart/2026/layout/TextCardShortLine"/>
    <dgm:cxn modelId="{71ABD6DD-35C1-46C7-9C25-8159E5AB07C7}" srcId="{29F5810E-EA99-4B96-94E2-49AAF874E306}" destId="{4675D608-3A00-4B2F-B10A-FBE14CB72E5D}" srcOrd="0" destOrd="0" parTransId="{8DB2CE48-E61F-452C-B9BE-CCB29F41E14A}" sibTransId="{A8566934-0B6F-417E-B462-4B347FC51772}"/>
    <dgm:cxn modelId="{4FC8BFFA-B5E7-4E10-B9B6-1E28B0007D15}" type="presOf" srcId="{1B132F8C-7F5B-496A-8530-8B8893B538DC}" destId="{94449229-BA29-4888-91D9-787F28A05220}" srcOrd="0" destOrd="0" presId="urn:microsoft.com/office/officeart/2026/layout/TextCardShortLine"/>
    <dgm:cxn modelId="{F7B1F143-01B8-47D9-B054-2E229855653F}" type="presParOf" srcId="{F2F19D40-46EE-49FF-B905-E0A02907349C}" destId="{F0F55D0A-0E4F-46E4-A5D0-367B8A595D6C}" srcOrd="0" destOrd="0" presId="urn:microsoft.com/office/officeart/2026/layout/TextCardShortLine"/>
    <dgm:cxn modelId="{FED1C8CD-5CE2-436A-85AB-F54D00DD6F22}" type="presParOf" srcId="{F0F55D0A-0E4F-46E4-A5D0-367B8A595D6C}" destId="{4F9360D0-E501-4FBE-B403-8B3631CDF134}" srcOrd="0" destOrd="0" presId="urn:microsoft.com/office/officeart/2026/layout/TextCardShortLine"/>
    <dgm:cxn modelId="{6E73D762-5851-4915-A7AE-92CBCDF78655}" type="presParOf" srcId="{F0F55D0A-0E4F-46E4-A5D0-367B8A595D6C}" destId="{1AA9622D-62E4-4CBA-80DF-A067973A1745}" srcOrd="1" destOrd="0" presId="urn:microsoft.com/office/officeart/2026/layout/TextCardShortLine"/>
    <dgm:cxn modelId="{C5CFB4D8-8152-47F3-B03B-D990D50336E5}" type="presParOf" srcId="{F0F55D0A-0E4F-46E4-A5D0-367B8A595D6C}" destId="{E4F1B567-CDF0-4E6F-A201-F72CE23C913C}" srcOrd="2" destOrd="0" presId="urn:microsoft.com/office/officeart/2026/layout/TextCardShortLine"/>
    <dgm:cxn modelId="{6914F793-FA63-4675-A1BE-0BBA414DAE83}" type="presParOf" srcId="{F2F19D40-46EE-49FF-B905-E0A02907349C}" destId="{56922E89-9F78-44B3-90CA-9BA01E1FD44F}" srcOrd="1" destOrd="0" presId="urn:microsoft.com/office/officeart/2026/layout/TextCardShortLine"/>
    <dgm:cxn modelId="{B62D2316-B9B6-48BC-A1EE-1E47214B0A35}" type="presParOf" srcId="{F2F19D40-46EE-49FF-B905-E0A02907349C}" destId="{341A77A6-9422-4650-95A1-80842D1FBA4E}" srcOrd="2" destOrd="0" presId="urn:microsoft.com/office/officeart/2026/layout/TextCardShortLine"/>
    <dgm:cxn modelId="{121A8664-9232-4B55-90CA-25AE1450E4D7}" type="presParOf" srcId="{341A77A6-9422-4650-95A1-80842D1FBA4E}" destId="{7452D30C-D84E-4A7D-B144-65EF99C09308}" srcOrd="0" destOrd="0" presId="urn:microsoft.com/office/officeart/2026/layout/TextCardShortLine"/>
    <dgm:cxn modelId="{9BD42C79-99B2-406D-97D2-1401ABC1DE79}" type="presParOf" srcId="{341A77A6-9422-4650-95A1-80842D1FBA4E}" destId="{E32B9064-DCBA-44A3-94C1-1FD2C97236A3}" srcOrd="1" destOrd="0" presId="urn:microsoft.com/office/officeart/2026/layout/TextCardShortLine"/>
    <dgm:cxn modelId="{68C826C8-BC57-4820-BA0D-D2943B0F6933}" type="presParOf" srcId="{341A77A6-9422-4650-95A1-80842D1FBA4E}" destId="{5D6A1A25-B3EF-4F01-B9D2-D9A6CD9B8DD9}" srcOrd="2" destOrd="0" presId="urn:microsoft.com/office/officeart/2026/layout/TextCardShortLine"/>
    <dgm:cxn modelId="{9FE08197-419E-4F2A-92CF-D4A10C4704E5}" type="presParOf" srcId="{F2F19D40-46EE-49FF-B905-E0A02907349C}" destId="{C261DD5F-492B-440C-9D7E-E092CE5E8394}" srcOrd="3" destOrd="0" presId="urn:microsoft.com/office/officeart/2026/layout/TextCardShortLine"/>
    <dgm:cxn modelId="{E8C48D1A-EB3F-4CB4-A375-F734CA5AA892}" type="presParOf" srcId="{F2F19D40-46EE-49FF-B905-E0A02907349C}" destId="{95A243B0-16F3-42EB-86FF-B6D36268CB49}" srcOrd="4" destOrd="0" presId="urn:microsoft.com/office/officeart/2026/layout/TextCardShortLine"/>
    <dgm:cxn modelId="{C55176E8-64E3-48D6-BDF2-57EF9828CA38}" type="presParOf" srcId="{95A243B0-16F3-42EB-86FF-B6D36268CB49}" destId="{5D8B48A4-DAAD-4566-B14B-4602AC122AAE}" srcOrd="0" destOrd="0" presId="urn:microsoft.com/office/officeart/2026/layout/TextCardShortLine"/>
    <dgm:cxn modelId="{DC4A07D7-D08D-45CD-BD1E-C24283926C98}" type="presParOf" srcId="{95A243B0-16F3-42EB-86FF-B6D36268CB49}" destId="{94449229-BA29-4888-91D9-787F28A05220}" srcOrd="1" destOrd="0" presId="urn:microsoft.com/office/officeart/2026/layout/TextCardShortLine"/>
    <dgm:cxn modelId="{72E5A76F-8AE2-4FC9-8266-3DEE9B0DF218}" type="presParOf" srcId="{95A243B0-16F3-42EB-86FF-B6D36268CB49}" destId="{12D715EF-F108-4586-A9CC-6D9EAA896B88}" srcOrd="2" destOrd="0" presId="urn:microsoft.com/office/officeart/2026/layout/TextCardShortLine"/>
    <dgm:cxn modelId="{B91FBD8C-DB52-4391-9829-5E98B4CCCA50}" type="presParOf" srcId="{F2F19D40-46EE-49FF-B905-E0A02907349C}" destId="{F8EF8A15-692C-4896-98D5-D3C4B6316710}" srcOrd="5" destOrd="0" presId="urn:microsoft.com/office/officeart/2026/layout/TextCardShortLine"/>
    <dgm:cxn modelId="{44A8992F-D11C-440E-AD66-1BC540803B59}" type="presParOf" srcId="{F2F19D40-46EE-49FF-B905-E0A02907349C}" destId="{E9D9C002-0198-4B66-BA11-163421A390C3}" srcOrd="6" destOrd="0" presId="urn:microsoft.com/office/officeart/2026/layout/TextCardShortLine"/>
    <dgm:cxn modelId="{42CEC3B6-CAC4-4A9F-8DD4-55F311252A4D}" type="presParOf" srcId="{E9D9C002-0198-4B66-BA11-163421A390C3}" destId="{ACF57909-BE02-408C-84DF-1641C013969C}" srcOrd="0" destOrd="0" presId="urn:microsoft.com/office/officeart/2026/layout/TextCardShortLine"/>
    <dgm:cxn modelId="{5AB2C6E4-8512-440D-A019-8433D0519CB6}" type="presParOf" srcId="{E9D9C002-0198-4B66-BA11-163421A390C3}" destId="{154A72F3-60C2-4087-A800-A1D985F106A0}" srcOrd="1" destOrd="0" presId="urn:microsoft.com/office/officeart/2026/layout/TextCardShortLine"/>
    <dgm:cxn modelId="{68A7584E-F0F1-4367-BF03-D2F8DD809A53}" type="presParOf" srcId="{E9D9C002-0198-4B66-BA11-163421A390C3}" destId="{F36767DB-9636-41AB-8A4D-E3AB9E1A92FC}" srcOrd="2" destOrd="0" presId="urn:microsoft.com/office/officeart/2026/layout/TextCardShort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9360D0-E501-4FBE-B403-8B3631CDF134}">
      <dsp:nvSpPr>
        <dsp:cNvPr id="0" name=""/>
        <dsp:cNvSpPr/>
      </dsp:nvSpPr>
      <dsp:spPr>
        <a:xfrm>
          <a:off x="357464" y="793156"/>
          <a:ext cx="495455" cy="3666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A9622D-62E4-4CBA-80DF-A067973A1745}">
      <dsp:nvSpPr>
        <dsp:cNvPr id="0" name=""/>
        <dsp:cNvSpPr/>
      </dsp:nvSpPr>
      <dsp:spPr>
        <a:xfrm>
          <a:off x="357464" y="1046782"/>
          <a:ext cx="2252069" cy="68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>
              <a:solidFill>
                <a:srgbClr val="272D45"/>
              </a:solidFill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rPr>
            <a:t>Computational Property Estimates</a:t>
          </a:r>
          <a:endParaRPr lang="en-IN" sz="2400" kern="1200" dirty="0"/>
        </a:p>
      </dsp:txBody>
      <dsp:txXfrm>
        <a:off x="357464" y="1046782"/>
        <a:ext cx="2252069" cy="681430"/>
      </dsp:txXfrm>
    </dsp:sp>
    <dsp:sp modelId="{E4F1B567-CDF0-4E6F-A201-F72CE23C913C}">
      <dsp:nvSpPr>
        <dsp:cNvPr id="0" name=""/>
        <dsp:cNvSpPr/>
      </dsp:nvSpPr>
      <dsp:spPr>
        <a:xfrm>
          <a:off x="351834" y="1919351"/>
          <a:ext cx="2252069" cy="2120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QED, SA, and </a:t>
          </a:r>
          <a:r>
            <a:rPr lang="en-US" sz="2000" kern="1200" dirty="0" err="1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LogP</a:t>
          </a:r>
          <a:r>
            <a:rPr lang="en-US" sz="2000" kern="12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 are only in silico proxies.</a:t>
          </a:r>
          <a:endParaRPr lang="en-IN" sz="2000" kern="1200" dirty="0"/>
        </a:p>
      </dsp:txBody>
      <dsp:txXfrm>
        <a:off x="351834" y="1919351"/>
        <a:ext cx="2252069" cy="2120685"/>
      </dsp:txXfrm>
    </dsp:sp>
    <dsp:sp modelId="{7452D30C-D84E-4A7D-B144-65EF99C09308}">
      <dsp:nvSpPr>
        <dsp:cNvPr id="0" name=""/>
        <dsp:cNvSpPr/>
      </dsp:nvSpPr>
      <dsp:spPr>
        <a:xfrm>
          <a:off x="2780691" y="793156"/>
          <a:ext cx="495455" cy="3666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B9064-DCBA-44A3-94C1-1FD2C97236A3}">
      <dsp:nvSpPr>
        <dsp:cNvPr id="0" name=""/>
        <dsp:cNvSpPr/>
      </dsp:nvSpPr>
      <dsp:spPr>
        <a:xfrm>
          <a:off x="2780691" y="1046782"/>
          <a:ext cx="2252069" cy="68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>
              <a:solidFill>
                <a:srgbClr val="272D45"/>
              </a:solidFill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rPr>
            <a:t>Lack of Experimental Validation</a:t>
          </a:r>
          <a:endParaRPr lang="en-IN" sz="2400" kern="1200" dirty="0"/>
        </a:p>
      </dsp:txBody>
      <dsp:txXfrm>
        <a:off x="2780691" y="1046782"/>
        <a:ext cx="2252069" cy="681430"/>
      </dsp:txXfrm>
    </dsp:sp>
    <dsp:sp modelId="{5D6A1A25-B3EF-4F01-B9D2-D9A6CD9B8DD9}">
      <dsp:nvSpPr>
        <dsp:cNvPr id="0" name=""/>
        <dsp:cNvSpPr/>
      </dsp:nvSpPr>
      <dsp:spPr>
        <a:xfrm>
          <a:off x="2752698" y="1919351"/>
          <a:ext cx="2252069" cy="2120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Nothing has been synthesized or tested in the lab.</a:t>
          </a:r>
          <a:endParaRPr lang="en-IN" sz="2000" kern="1200" dirty="0"/>
        </a:p>
      </dsp:txBody>
      <dsp:txXfrm>
        <a:off x="2752698" y="1919351"/>
        <a:ext cx="2252069" cy="2120685"/>
      </dsp:txXfrm>
    </dsp:sp>
    <dsp:sp modelId="{5D8B48A4-DAAD-4566-B14B-4602AC122AAE}">
      <dsp:nvSpPr>
        <dsp:cNvPr id="0" name=""/>
        <dsp:cNvSpPr/>
      </dsp:nvSpPr>
      <dsp:spPr>
        <a:xfrm>
          <a:off x="5203918" y="793156"/>
          <a:ext cx="495455" cy="3666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449229-BA29-4888-91D9-787F28A05220}">
      <dsp:nvSpPr>
        <dsp:cNvPr id="0" name=""/>
        <dsp:cNvSpPr/>
      </dsp:nvSpPr>
      <dsp:spPr>
        <a:xfrm>
          <a:off x="5185271" y="1054087"/>
          <a:ext cx="2252069" cy="68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>
              <a:solidFill>
                <a:srgbClr val="272D45"/>
              </a:solidFill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rPr>
            <a:t>No Biological Activity Evidence</a:t>
          </a:r>
          <a:endParaRPr lang="en-IN" sz="2400" kern="1200" dirty="0"/>
        </a:p>
      </dsp:txBody>
      <dsp:txXfrm>
        <a:off x="5185271" y="1054087"/>
        <a:ext cx="2252069" cy="681430"/>
      </dsp:txXfrm>
    </dsp:sp>
    <dsp:sp modelId="{12D715EF-F108-4586-A9CC-6D9EAA896B88}">
      <dsp:nvSpPr>
        <dsp:cNvPr id="0" name=""/>
        <dsp:cNvSpPr/>
      </dsp:nvSpPr>
      <dsp:spPr>
        <a:xfrm>
          <a:off x="5194595" y="1919351"/>
          <a:ext cx="2252069" cy="2120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No biological activity or therapeutic effect is shown</a:t>
          </a:r>
          <a:r>
            <a:rPr lang="en-US" sz="1400" kern="12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.</a:t>
          </a:r>
          <a:endParaRPr lang="en-IN" sz="1400" kern="1200" dirty="0"/>
        </a:p>
      </dsp:txBody>
      <dsp:txXfrm>
        <a:off x="5194595" y="1919351"/>
        <a:ext cx="2252069" cy="2120685"/>
      </dsp:txXfrm>
    </dsp:sp>
    <dsp:sp modelId="{ACF57909-BE02-408C-84DF-1641C013969C}">
      <dsp:nvSpPr>
        <dsp:cNvPr id="0" name=""/>
        <dsp:cNvSpPr/>
      </dsp:nvSpPr>
      <dsp:spPr>
        <a:xfrm>
          <a:off x="7627145" y="793156"/>
          <a:ext cx="495455" cy="3666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A72F3-60C2-4087-A800-A1D985F106A0}">
      <dsp:nvSpPr>
        <dsp:cNvPr id="0" name=""/>
        <dsp:cNvSpPr/>
      </dsp:nvSpPr>
      <dsp:spPr>
        <a:xfrm>
          <a:off x="7608475" y="1043552"/>
          <a:ext cx="2252069" cy="68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Synthesizability &amp; Practical Feasibility</a:t>
          </a:r>
          <a:endParaRPr lang="en-IN" sz="2400" kern="1200" dirty="0"/>
        </a:p>
      </dsp:txBody>
      <dsp:txXfrm>
        <a:off x="7608475" y="1043552"/>
        <a:ext cx="2252069" cy="681430"/>
      </dsp:txXfrm>
    </dsp:sp>
    <dsp:sp modelId="{F36767DB-9636-41AB-8A4D-E3AB9E1A92FC}">
      <dsp:nvSpPr>
        <dsp:cNvPr id="0" name=""/>
        <dsp:cNvSpPr/>
      </dsp:nvSpPr>
      <dsp:spPr>
        <a:xfrm>
          <a:off x="7599152" y="1960110"/>
          <a:ext cx="2252069" cy="2120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C3249"/>
              </a:solidFill>
              <a:latin typeface="Times New Roman" panose="02020603050405020304" pitchFamily="18" charset="0"/>
              <a:ea typeface="Martel Sans" pitchFamily="34" charset="-122"/>
              <a:cs typeface="Times New Roman" panose="02020603050405020304" pitchFamily="18" charset="0"/>
            </a:rPr>
            <a:t>Feasibility still needs further evaluation.</a:t>
          </a:r>
          <a:endParaRPr lang="en-IN" sz="2000" kern="1200" dirty="0"/>
        </a:p>
      </dsp:txBody>
      <dsp:txXfrm>
        <a:off x="7599152" y="1960110"/>
        <a:ext cx="2252069" cy="2120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1:13:21.3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2655 0 24551,'-2654'0'0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1:13:49.8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 24541,'1891'-226'0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1:13:53.1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1028 103 24575,'-24'-2'0,"0"0"0,-35-8 0,31 4 0,-39-2 0,-235 6 0,155 4 0,126-4 0,0 0 0,-38-9 0,36 6 0,1 1 0,-29-1 0,30 3-29,0-1-1,0-1 1,0-1-1,-38-15 1,23 8-1189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1:14:00.9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470 0 24575,'-470'0'-1365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1:13:21.3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2655 0 24551,'-2654'0'0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1:13:49.8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 24541,'1891'-226'0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1:13:53.1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1028 103 24575,'-24'-2'0,"0"0"0,-35-8 0,31 4 0,-39-2 0,-235 6 0,155 4 0,126-4 0,0 0 0,-38-9 0,36 6 0,1 1 0,-29-1 0,30 3-29,0-1-1,0-1 1,0-1-1,-38-15 1,23 8-1189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1:14:00.9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470 0 24575,'-470'0'-1365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0:46.1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2300 11 24463,'-2300'0'0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1:05.6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1:07.9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1:10.0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1:12.5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1:13.7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1:14.7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1:15.8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1:16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2:58.0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3:05.5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2459 486 24432,'-2458'-486'0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3:18.2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 90 24575,'-598'0'0,"584"-1"0,1 0 0,-1-2 0,1 1 0,0-2 0,0 0 0,-18-8 0,16 6 0,1 1 0,-1 0 0,0 1 0,-29-3 0,24 5-227,-1-1-1,0-1 1,1 0-1,0-2 1,-26-10-1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57:31.3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1271 1 24575,'-3'1'0,"0"0"0,-1 0 0,1 0 0,0 0 0,1 1 0,-1-1 0,0 1 0,0 0 0,1 0 0,-1 0 0,-3 4 0,-20 13 0,-10-2 0,-44 28 0,-28 13 0,95-52 0,-1-1 0,1 0 0,-1-1 0,0-1 0,0 0 0,-23 1 0,-308-4 0,156-2 0,-141 2-1365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57:37.3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57:39.4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8287 2797 24575,'-299'-516'0,"199"355"0,-202-291 0,172 266 0,116 166 0,1-1 0,1 0 0,1-1 0,-10-27 0,11 27 0,-1 0 0,-2 1 0,0 0 0,-1 1 0,-29-31 0,18 21 0,-77-100 0,-132-150 0,-36 28 0,211 206 0,-2 2 0,-125-68 0,78 60-209,-3 5-1,-1 4 1,-3 6-1,0 5 0,-3 4 1,0 6-1,-1 5 1,-154-3-1,69 23 2,0 8 0,0 10 0,-232 53-1,-581 201-1507,-1513 642-1801,2098-740 2965,304-123 865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3:38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2704 0 24575,'-9'7'0,"0"-2"0,0 1 0,-1-1 0,0 0 0,0-1 0,0 0 0,0-1 0,-1 0 0,-20 3 0,-18 3 0,0 0 0,0-1 0,-67 1 0,-774-11 0,864 1 0,0-2 0,-33-6 0,30 3 0,-48-2 0,-546 6 0,301 4 0,53-2-1365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13:45.0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2378 1 24503,'-2377'108'0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39.3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2460 29 24575,'-516'0'0,"489"-1"0,0-2 0,-30-6 0,27 3 0,-45-2 0,-491 6 0,274 4 0,-578-2-1365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44.4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2701 408 24575,'2'0'0,"0"1"0,0-1 0,0 0 0,-1 1 0,1 0 0,0-1 0,0 1 0,0 0 0,-1 0 0,1 0 0,0 0 0,-1 0 0,1 1 0,-1-1 0,1 0 0,-1 1 0,1-1 0,-1 1 0,0-1 0,0 1 0,0 0 0,0-1 0,0 1 0,0 0 0,-1 0 0,2 2 0,1 7 0,1 1 0,-2-1 0,2 15 0,-2-15 0,0-1 0,0-1 0,1 1 0,0-1 0,1 1 0,-1-1 0,2 0 0,-1-1 0,2 1 0,-1-1 0,1 0 0,0 0 0,11 11 0,-17-19 0,1 0 0,-1 0 0,0 0 0,1 1 0,-1-1 0,1 0 0,-1 0 0,0 1 0,1-1 0,-1 0 0,0 1 0,0-1 0,1 0 0,-1 1 0,0-1 0,0 1 0,1-1 0,-1 0 0,0 1 0,0-1 0,0 1 0,0-1 0,0 1 0,0-1 0,0 0 0,0 1 0,0-1 0,0 1 0,0-1 0,0 1 0,-13 4 0,-31-6 0,34 1 0,-752-4 0,435 5 0,307 0 0,0 2 0,-37 7 0,36-5 0,-1-1 0,-26 1 0,-415-4 0,222-3 0,232 3 0,0 0 0,1 1 0,-1 0 0,1 0 0,-1 1 0,1 0 0,0 0 0,-10 7 0,8-5 0,0-1 0,0 0 0,0 0 0,0-1 0,-16 3 0,-38-1 0,-109-6 0,65-2 0,71 4 0,22 1 0,0-2 0,0 0 0,0-1 0,-17-3 0,29 3 0,-1 0 0,1 0 0,-1 0 0,1-1 0,-1 1 0,1-1 0,0 0 0,0 1 0,-1-2 0,2 1 0,-1 0 0,0 0 0,0-1 0,1 0 0,-1 1 0,1-1 0,0 0 0,0 0 0,0-1 0,0 1 0,-2-6 0,-11-37 0,2 0 0,-8-59 0,-2-5 0,21 101 0,0 0 0,1 1 0,0-1 0,0 0 0,1 0 0,0 0 0,0 0 0,4-17 0,-3 21 0,1 0 0,-1 0 0,1 0 0,1 1 0,-1-1 0,1 0 0,-1 1 0,1 0 0,0 0 0,1 0 0,-1 0 0,1 0 0,0 0 0,0 1 0,0 0 0,8-5 0,12-5 0,1 0 0,0 2 0,0 1 0,1 1 0,1 1 0,0 2 0,0 0 0,36-2 0,-16 5 0,0 2 0,-1 2 0,1 3 0,50 9 0,57 17 0,-117-24 0,0-2 0,0-1 0,1-2 0,45-4 0,-2 1 0,15-2 0,95-18 0,-181 21 0,26-7 0,0 0 0,-1-3 0,0 0 0,43-23 0,48-15 0,-111 45-341,1 0 0,-1 1-1,25-2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44.8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46.4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1021 438 24575,'-186'14'0,"-9"0"0,-346-15 0,504 7 0,31-5 0,1 0 0,-1 0 0,0 0 0,0 0 0,1-1 0,-9 0 0,14 0 0,-1 0 0,1 0 0,-1 0 0,1 0 0,-1-1 0,0 1 0,1 0 0,-1 0 0,1 0 0,-1 0 0,1 0 0,-1-1 0,1 1 0,-1 0 0,1-1 0,-1 1 0,1 0 0,-1-1 0,1 1 0,-1 0 0,1-1 0,0 1 0,-1-1 0,1 1 0,0-1 0,-1 1 0,1-1 0,0 1 0,0-1 0,-1 0 0,1-1 0,1 1 0,-1 0 0,0 0 0,1 0 0,-1 0 0,1 0 0,-1 0 0,1 0 0,-1 0 0,1 0 0,0 1 0,-1-1 0,1 0 0,1-1 0,3-2 0,-1 0 0,1 0 0,0 1 0,0 0 0,6-3 0,25-9 0,101-36 0,-128 48 0,-1-1 0,1 0 0,-1 0 0,-1-1 0,1 0 0,-1-1 0,11-8 0,25-19 0,45-13 0,-51 28 0,64-43 0,-90 51 0,0 1 0,-1-1 0,16-21 0,-19 22 0,-1 1 0,1 0 0,1 0 0,-1 1 0,1 0 0,1 0 0,-1 1 0,13-7 0,-10 9 44,0-1-1,1 2 0,-1 0 0,1 0 1,-1 1-1,24-1 0,74 4-488,-55 2-778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48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49.0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49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50.5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51.5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24575,'4'0'0,"7"0"0,5 0 0,6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52.7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1098 0 24575,'-1030'0'0,"1020"0"-227,0 1-1,1 0 1,-1 0-1,1 1 1,-11 4-1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53.0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7:28:53.1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34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D58B1-2799-189A-3FE7-306E286D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EAA43-0A11-0D67-BFAD-430960721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C2AE0-2980-B5A6-8F9B-4368CF0B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C38F6-7EBA-0318-4050-0391BB9DA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8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customXml" Target="../ink/ink6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customXml" Target="../ink/ink14.xml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customXml" Target="../ink/ink13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customXml" Target="../ink/ink12.xml"/><Relationship Id="rId5" Type="http://schemas.openxmlformats.org/officeDocument/2006/relationships/image" Target="../media/image16.png"/><Relationship Id="rId15" Type="http://schemas.openxmlformats.org/officeDocument/2006/relationships/customXml" Target="../ink/ink16.xml"/><Relationship Id="rId10" Type="http://schemas.openxmlformats.org/officeDocument/2006/relationships/customXml" Target="../ink/ink11.xml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openxmlformats.org/officeDocument/2006/relationships/customXml" Target="../ink/ink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customXml" Target="../ink/ink23.xml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12" Type="http://schemas.openxmlformats.org/officeDocument/2006/relationships/customXml" Target="../ink/ink2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21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25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13" Type="http://schemas.openxmlformats.org/officeDocument/2006/relationships/customXml" Target="../ink/ink33.xml"/><Relationship Id="rId18" Type="http://schemas.openxmlformats.org/officeDocument/2006/relationships/customXml" Target="../ink/ink36.xml"/><Relationship Id="rId3" Type="http://schemas.openxmlformats.org/officeDocument/2006/relationships/image" Target="../media/image300.png"/><Relationship Id="rId7" Type="http://schemas.openxmlformats.org/officeDocument/2006/relationships/image" Target="../media/image18.png"/><Relationship Id="rId12" Type="http://schemas.openxmlformats.org/officeDocument/2006/relationships/customXml" Target="../ink/ink32.xml"/><Relationship Id="rId17" Type="http://schemas.openxmlformats.org/officeDocument/2006/relationships/image" Target="../media/image34.png"/><Relationship Id="rId2" Type="http://schemas.openxmlformats.org/officeDocument/2006/relationships/customXml" Target="../ink/ink26.xml"/><Relationship Id="rId16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11" Type="http://schemas.openxmlformats.org/officeDocument/2006/relationships/customXml" Target="../ink/ink31.xml"/><Relationship Id="rId5" Type="http://schemas.openxmlformats.org/officeDocument/2006/relationships/image" Target="../media/image31.png"/><Relationship Id="rId15" Type="http://schemas.openxmlformats.org/officeDocument/2006/relationships/image" Target="../media/image33.png"/><Relationship Id="rId10" Type="http://schemas.openxmlformats.org/officeDocument/2006/relationships/customXml" Target="../ink/ink30.xml"/><Relationship Id="rId19" Type="http://schemas.openxmlformats.org/officeDocument/2006/relationships/customXml" Target="../ink/ink37.xml"/><Relationship Id="rId4" Type="http://schemas.openxmlformats.org/officeDocument/2006/relationships/customXml" Target="../ink/ink27.xml"/><Relationship Id="rId9" Type="http://schemas.openxmlformats.org/officeDocument/2006/relationships/image" Target="../media/image32.png"/><Relationship Id="rId14" Type="http://schemas.openxmlformats.org/officeDocument/2006/relationships/customXml" Target="../ink/ink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A8A96D-1A4C-9C0A-8184-CEAD1304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346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402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Problem Statement &amp; Project Objectives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73073" y="1276052"/>
            <a:ext cx="5461359" cy="3034903"/>
          </a:xfrm>
          <a:prstGeom prst="roundRect">
            <a:avLst>
              <a:gd name="adj" fmla="val 2915"/>
            </a:avLst>
          </a:prstGeom>
          <a:solidFill>
            <a:srgbClr val="003366"/>
          </a:solidFill>
          <a:ln/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5903" y="1355824"/>
            <a:ext cx="521570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Kanit Bold" pitchFamily="34" charset="-122"/>
                <a:cs typeface="Times New Roman" panose="02020603050405020304" pitchFamily="18" charset="0"/>
              </a:rPr>
              <a:t>Problem Statement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5903" y="1675904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1989" y="1698972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2089" y="1718072"/>
            <a:ext cx="485951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Vast Chemical Space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2089" y="1989832"/>
            <a:ext cx="485951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The chemical space for drug discovery is huge and discrete, making exhaustive screening impractical.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5903" y="2473722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1989" y="249679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2089" y="2515890"/>
            <a:ext cx="485951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Limited Exploration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2089" y="2787650"/>
            <a:ext cx="485951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Traditional screening methods reach only a small fraction of useful molecular structures.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5903" y="3271540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1989" y="329460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2089" y="3313708"/>
            <a:ext cx="485951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Generative Modeling Challenges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52089" y="3585468"/>
            <a:ext cx="485951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SMILES models can generate invalid sequences, and recurrent VAEs may suffer from posterior collapse.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52014" y="1355824"/>
            <a:ext cx="5284556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Project Objectives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90222" y="1675904"/>
            <a:ext cx="12700" cy="2545259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15731" y="1807766"/>
            <a:ext cx="368489" cy="1270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52014" y="1675904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98100" y="1698972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04470" y="1718072"/>
            <a:ext cx="45321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7066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Develop a Generative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04470" y="1989832"/>
            <a:ext cx="45321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Build an LSTM-based VAE for de novo molecular generation from SMILES.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15731" y="2443460"/>
            <a:ext cx="368489" cy="1270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52014" y="2311598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98100" y="2334667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04470" y="2353766"/>
            <a:ext cx="45321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7066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Improve Molecular Representation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04470" y="2625527"/>
            <a:ext cx="45321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Use a Bidirectional LSTM encoder for richer sequence-level representations.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15731" y="3079155"/>
            <a:ext cx="368489" cy="1270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52014" y="2947293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98100" y="2970361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004470" y="2989461"/>
            <a:ext cx="45321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7066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Improve Latent-Space Utilization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04470" y="3261221"/>
            <a:ext cx="45321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Apply step-wise latent injection and β-KL annealing during decoding.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15731" y="3714849"/>
            <a:ext cx="368489" cy="1270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52014" y="3582988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98100" y="3606056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98120" y="3625155"/>
            <a:ext cx="45321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7066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Evaluate Generated Molecules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04470" y="3896916"/>
            <a:ext cx="453210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Assess validity, uniqueness, novelty, diversity, Lipinski compliance, QED, and SA.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90" y="4430657"/>
            <a:ext cx="7064595" cy="1936849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3303752" y="5142686"/>
            <a:ext cx="1067552" cy="191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Exploration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856013" y="5142686"/>
            <a:ext cx="1067551" cy="382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Overcoming Bottlenecks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324015" y="5100632"/>
            <a:ext cx="1067552" cy="191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AI Design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324015" y="5346155"/>
            <a:ext cx="1067552" cy="12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778425" y="5333836"/>
            <a:ext cx="1067552" cy="191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Creation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778425" y="5579359"/>
            <a:ext cx="1067552" cy="12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7A24158-17E3-92F2-CD86-F79292422381}"/>
                  </a:ext>
                </a:extLst>
              </p14:cNvPr>
              <p14:cNvContentPartPr/>
              <p14:nvPr/>
            </p14:nvContentPartPr>
            <p14:xfrm>
              <a:off x="11104200" y="6675040"/>
              <a:ext cx="955800" cy="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7A24158-17E3-92F2-CD86-F79292422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41560" y="6549040"/>
                <a:ext cx="10814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F38DE8D-7A9C-BB4B-C751-1129A296BDE8}"/>
                  </a:ext>
                </a:extLst>
              </p14:cNvPr>
              <p14:cNvContentPartPr/>
              <p14:nvPr/>
            </p14:nvContentPartPr>
            <p14:xfrm>
              <a:off x="11155320" y="6634360"/>
              <a:ext cx="681120" cy="81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F38DE8D-7A9C-BB4B-C751-1129A296BD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2680" y="6571360"/>
                <a:ext cx="8067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4E3DB07-FA99-F5F8-07DF-AE3E6F568551}"/>
                  </a:ext>
                </a:extLst>
              </p14:cNvPr>
              <p14:cNvContentPartPr/>
              <p14:nvPr/>
            </p14:nvContentPartPr>
            <p14:xfrm>
              <a:off x="11385000" y="6709240"/>
              <a:ext cx="370080" cy="37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4E3DB07-FA99-F5F8-07DF-AE3E6F5685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22360" y="6646240"/>
                <a:ext cx="4957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1A5F0C8-945E-75ED-4E99-DBC1ED4545C1}"/>
                  </a:ext>
                </a:extLst>
              </p14:cNvPr>
              <p14:cNvContentPartPr/>
              <p14:nvPr/>
            </p14:nvContentPartPr>
            <p14:xfrm>
              <a:off x="11890800" y="6725800"/>
              <a:ext cx="1695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1A5F0C8-945E-75ED-4E99-DBC1ED4545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27800" y="6662800"/>
                <a:ext cx="2952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9DCCC70-5193-948C-3083-553A3669B2C7}"/>
              </a:ext>
            </a:extLst>
          </p:cNvPr>
          <p:cNvSpPr/>
          <p:nvPr/>
        </p:nvSpPr>
        <p:spPr>
          <a:xfrm>
            <a:off x="695208" y="418989"/>
            <a:ext cx="1942158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7B074D9-6E6A-A2E9-7A71-930C73C5716D}"/>
              </a:ext>
            </a:extLst>
          </p:cNvPr>
          <p:cNvSpPr/>
          <p:nvPr/>
        </p:nvSpPr>
        <p:spPr>
          <a:xfrm>
            <a:off x="593314" y="580111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Literature Review &amp; Gap Analysis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CAB7C2B2-A59F-632A-8333-E43F0AA18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358095"/>
              </p:ext>
            </p:extLst>
          </p:nvPr>
        </p:nvGraphicFramePr>
        <p:xfrm>
          <a:off x="574363" y="1385660"/>
          <a:ext cx="10868746" cy="1980058"/>
        </p:xfrm>
        <a:graphic>
          <a:graphicData uri="http://schemas.openxmlformats.org/drawingml/2006/table">
            <a:tbl>
              <a:tblPr/>
              <a:tblGrid>
                <a:gridCol w="19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Approach</a:t>
                      </a:r>
                      <a:endParaRPr lang="en-US" sz="110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Representative Models</a:t>
                      </a:r>
                      <a:endParaRPr lang="en-US" sz="110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Strength</a:t>
                      </a:r>
                      <a:endParaRPr lang="en-US" sz="110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Key Limitation</a:t>
                      </a:r>
                      <a:endParaRPr lang="en-US" sz="110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Sequence-Based VAE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VAE, Re-balanced VAE, SD-VAE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Learns continuous latent representations from SMILES sequences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Prone to posterior collapse and poor latent-space utilization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Conditional / β-VAE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CVAE, β-VAE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Incorporates molecular-property information; enables property-aware generation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Balancing reconstruction quality, KL regularization, and property learning is challenging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Graph-Based Generation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JT-VAE, MolGAN, GraphAF, GraphDF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Captures molecular connectivity directly via graph-based representations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Introduces greater architectural and computational complexity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8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Flow / Hierarchical Models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MoFlow, MolHF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Provide powerful structured approaches for molecular generation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249"/>
                          </a:solidFill>
                          <a:latin typeface="Times New Roman" panose="02020603050405020304" pitchFamily="18" charset="0"/>
                          <a:ea typeface="Martel Sans" pitchFamily="34" charset="-122"/>
                          <a:cs typeface="Times New Roman" panose="02020603050405020304" pitchFamily="18" charset="0"/>
                        </a:rPr>
                        <a:t>Require more complex architectures and training procedures</a:t>
                      </a:r>
                      <a:endParaRPr lang="en-US" sz="1100" dirty="0">
                        <a:latin typeface="Times New Roman" panose="02020603050405020304" pitchFamily="18" charset="0"/>
                        <a:ea typeface="Martel Sans" charset="0"/>
                        <a:cs typeface="Times New Roman" panose="02020603050405020304" pitchFamily="18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1D0AE24-BDD4-F101-1327-FE4ABFA4EC5B}"/>
              </a:ext>
            </a:extLst>
          </p:cNvPr>
          <p:cNvGrpSpPr/>
          <p:nvPr/>
        </p:nvGrpSpPr>
        <p:grpSpPr>
          <a:xfrm>
            <a:off x="2516437" y="3668526"/>
            <a:ext cx="7159126" cy="2770485"/>
            <a:chOff x="574363" y="3560663"/>
            <a:chExt cx="7159126" cy="2770485"/>
          </a:xfrm>
        </p:grpSpPr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9BF2D475-7A30-5392-C721-0E579D8C24B5}"/>
                </a:ext>
              </a:extLst>
            </p:cNvPr>
            <p:cNvSpPr/>
            <p:nvPr/>
          </p:nvSpPr>
          <p:spPr>
            <a:xfrm>
              <a:off x="574363" y="3560663"/>
              <a:ext cx="7159126" cy="2770485"/>
            </a:xfrm>
            <a:prstGeom prst="roundRect">
              <a:avLst>
                <a:gd name="adj" fmla="val 3143"/>
              </a:avLst>
            </a:prstGeom>
            <a:solidFill>
              <a:srgbClr val="003366"/>
            </a:solidFill>
            <a:ln/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D2E93BC2-9186-72BF-3FFA-8602B04F38EA}"/>
                </a:ext>
              </a:extLst>
            </p:cNvPr>
            <p:cNvSpPr/>
            <p:nvPr/>
          </p:nvSpPr>
          <p:spPr>
            <a:xfrm>
              <a:off x="1587596" y="3681151"/>
              <a:ext cx="4996035" cy="189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Kanit Light" pitchFamily="34" charset="-122"/>
                  <a:cs typeface="Times New Roman" panose="02020603050405020304" pitchFamily="18" charset="0"/>
                </a:rPr>
                <a:t>Identified Research Gap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9E16DB9C-C6A0-3F75-1765-F01B6930B530}"/>
                </a:ext>
              </a:extLst>
            </p:cNvPr>
            <p:cNvSpPr/>
            <p:nvPr/>
          </p:nvSpPr>
          <p:spPr>
            <a:xfrm>
              <a:off x="661475" y="4179662"/>
              <a:ext cx="6848278" cy="1936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171450" lvl="0" indent="-171450" algn="just"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Sequence-based VAEs can suffer from </a:t>
              </a:r>
              <a:r>
                <a:rPr lang="en-IN" sz="1400" b="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poor latent-space utilization</a:t>
              </a:r>
              <a:r>
                <a:rPr lang="en-IN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KL-regularization difficulties. </a:t>
              </a:r>
            </a:p>
            <a:p>
              <a:pPr marL="171450" lvl="0" indent="-171450" algn="just"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Recurrent decoders may ignore latent variables, leading to </a:t>
              </a:r>
              <a:r>
                <a:rPr lang="en-IN" sz="1400" b="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posterior collapse</a:t>
              </a:r>
              <a:r>
                <a:rPr lang="en-IN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 algn="just"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Graph-based approaches improve structural validity but introduce greater architectural complexity. </a:t>
              </a:r>
            </a:p>
            <a:p>
              <a:pPr marL="171450" lvl="0" indent="-171450" algn="just"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Therefore, the project investigates a sequence-based framework combining </a:t>
              </a:r>
              <a:r>
                <a:rPr lang="en-IN" sz="1400" b="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bidirectional encoding + step-wise latent injection + β-KL annealing + property prediction</a:t>
              </a:r>
              <a:r>
                <a:rPr lang="en-IN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4771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27E5-41BF-4259-5BEE-7D404EBA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144AED83-4DAF-1BC9-B768-84DA33E7FE32}"/>
              </a:ext>
            </a:extLst>
          </p:cNvPr>
          <p:cNvSpPr/>
          <p:nvPr/>
        </p:nvSpPr>
        <p:spPr>
          <a:xfrm>
            <a:off x="566080" y="458402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C942D1C-C2C7-D59B-1DBB-6B6AB3183C68}"/>
              </a:ext>
            </a:extLst>
          </p:cNvPr>
          <p:cNvSpPr/>
          <p:nvPr/>
        </p:nvSpPr>
        <p:spPr>
          <a:xfrm>
            <a:off x="695208" y="3637955"/>
            <a:ext cx="499603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Identified Research Gap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1282B-7E4E-802D-DF9B-297DED65D775}"/>
              </a:ext>
            </a:extLst>
          </p:cNvPr>
          <p:cNvSpPr txBox="1"/>
          <p:nvPr/>
        </p:nvSpPr>
        <p:spPr>
          <a:xfrm>
            <a:off x="880163" y="3973776"/>
            <a:ext cx="108687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generation pipeline from raw ZINC250K data through preprocessing, encoding, latent sampling, autoregressive decoding, and molecular evaluation.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D8530F49-403F-A2E4-A0EE-D7F7BAEBB23E}"/>
              </a:ext>
            </a:extLst>
          </p:cNvPr>
          <p:cNvSpPr/>
          <p:nvPr/>
        </p:nvSpPr>
        <p:spPr>
          <a:xfrm>
            <a:off x="6612612" y="5363918"/>
            <a:ext cx="5038975" cy="1194151"/>
          </a:xfrm>
          <a:prstGeom prst="roundRect">
            <a:avLst>
              <a:gd name="adj" fmla="val 3143"/>
            </a:avLst>
          </a:prstGeom>
          <a:solidFill>
            <a:srgbClr val="003366"/>
          </a:solidFill>
          <a:ln/>
        </p:spPr>
        <p:txBody>
          <a:bodyPr/>
          <a:lstStyle/>
          <a:p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Bidirectional Encoding?</a:t>
            </a:r>
          </a:p>
          <a:p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+ backward context captures richer molecular sequence structure, improving latent-space learning and downstream generation quality.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498D8D-37B5-8188-C50F-BCECB15DA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420" b="19530"/>
          <a:stretch>
            <a:fillRect/>
          </a:stretch>
        </p:blipFill>
        <p:spPr>
          <a:xfrm>
            <a:off x="1138687" y="898508"/>
            <a:ext cx="9378566" cy="306237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0375797-85AC-3B2D-D8BC-5E3886A4B02C}"/>
              </a:ext>
            </a:extLst>
          </p:cNvPr>
          <p:cNvSpPr txBox="1"/>
          <p:nvPr/>
        </p:nvSpPr>
        <p:spPr>
          <a:xfrm>
            <a:off x="566080" y="4683745"/>
            <a:ext cx="57484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RDKit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validation, canonical SMILES conversion, duplicate removal. </a:t>
            </a:r>
          </a:p>
          <a:p>
            <a:pPr lvl="0"/>
            <a:r>
              <a:rPr lang="en-IN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Representation:</a:t>
            </a:r>
            <a:r>
              <a:rPr lang="en-IN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Regex-based SMILES tokenizer with </a:t>
            </a:r>
            <a:r>
              <a:rPr lang="en-IN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 tokens</a:t>
            </a:r>
            <a:r>
              <a:rPr lang="en-IN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including special tokens. </a:t>
            </a:r>
          </a:p>
          <a:p>
            <a:pPr lvl="0"/>
            <a:r>
              <a:rPr lang="en-IN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Learning:</a:t>
            </a:r>
            <a:r>
              <a:rPr lang="en-IN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Two-layer Bidirectional LSTM encoder maps molecular sequences into a </a:t>
            </a:r>
            <a:r>
              <a:rPr lang="en-IN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128-dimensional latent distribution</a:t>
            </a:r>
            <a:r>
              <a:rPr lang="en-IN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Generation:</a:t>
            </a:r>
            <a:r>
              <a:rPr lang="en-IN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Latent sampling followed by autoregressive LSTM decoding with temperature scaling and Top-p sampling.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168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C1E3-4A82-E8B5-920D-2A2F46A9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366782-C8D9-0410-E20B-FFFB5D2AF331}"/>
              </a:ext>
            </a:extLst>
          </p:cNvPr>
          <p:cNvSpPr/>
          <p:nvPr/>
        </p:nvSpPr>
        <p:spPr>
          <a:xfrm>
            <a:off x="661627" y="50360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Data Preparation &amp; Preprocessing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BC68F4A-DAEB-49CA-C159-1DB1D6E2D200}"/>
                  </a:ext>
                </a:extLst>
              </p14:cNvPr>
              <p14:cNvContentPartPr/>
              <p14:nvPr/>
            </p14:nvContentPartPr>
            <p14:xfrm>
              <a:off x="11104200" y="6675040"/>
              <a:ext cx="955800" cy="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BC68F4A-DAEB-49CA-C159-1DB1D6E2D2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41200" y="6549040"/>
                <a:ext cx="10814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4B68AC7-F834-F3B3-CCA7-EAEAC7845D7B}"/>
                  </a:ext>
                </a:extLst>
              </p14:cNvPr>
              <p14:cNvContentPartPr/>
              <p14:nvPr/>
            </p14:nvContentPartPr>
            <p14:xfrm>
              <a:off x="11155320" y="6634360"/>
              <a:ext cx="681120" cy="81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4B68AC7-F834-F3B3-CCA7-EAEAC7845D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2320" y="6571360"/>
                <a:ext cx="8067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B791ABF-6EF9-9605-2F07-1B770ABF93AE}"/>
                  </a:ext>
                </a:extLst>
              </p14:cNvPr>
              <p14:cNvContentPartPr/>
              <p14:nvPr/>
            </p14:nvContentPartPr>
            <p14:xfrm>
              <a:off x="11385000" y="6709240"/>
              <a:ext cx="370080" cy="37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B791ABF-6EF9-9605-2F07-1B770ABF93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22000" y="6646846"/>
                <a:ext cx="495720" cy="161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108C648-C60D-1F8D-D631-795F58F2BDFA}"/>
                  </a:ext>
                </a:extLst>
              </p14:cNvPr>
              <p14:cNvContentPartPr/>
              <p14:nvPr/>
            </p14:nvContentPartPr>
            <p14:xfrm>
              <a:off x="11890800" y="6725800"/>
              <a:ext cx="1695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108C648-C60D-1F8D-D631-795F58F2BD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27800" y="6662800"/>
                <a:ext cx="2952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47" name="Picture 46">
            <a:extLst>
              <a:ext uri="{FF2B5EF4-FFF2-40B4-BE49-F238E27FC236}">
                <a16:creationId xmlns:a16="http://schemas.microsoft.com/office/drawing/2014/main" id="{3E04537C-0249-C926-5E3C-96CDAF25CD8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7027"/>
          <a:stretch>
            <a:fillRect/>
          </a:stretch>
        </p:blipFill>
        <p:spPr>
          <a:xfrm>
            <a:off x="261262" y="1068200"/>
            <a:ext cx="11393025" cy="147201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B4FD1EA-164B-3997-02EF-4BC65D530579}"/>
              </a:ext>
            </a:extLst>
          </p:cNvPr>
          <p:cNvSpPr txBox="1"/>
          <p:nvPr/>
        </p:nvSpPr>
        <p:spPr>
          <a:xfrm>
            <a:off x="461368" y="2776397"/>
            <a:ext cx="10992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323873-01FD-63FC-A541-2E55A4A038D2}"/>
              </a:ext>
            </a:extLst>
          </p:cNvPr>
          <p:cNvSpPr txBox="1"/>
          <p:nvPr/>
        </p:nvSpPr>
        <p:spPr>
          <a:xfrm>
            <a:off x="9664891" y="3915615"/>
            <a:ext cx="2225909" cy="2576155"/>
          </a:xfrm>
          <a:prstGeom prst="flowChartAlternateProcess">
            <a:avLst/>
          </a:prstGeom>
          <a:solidFill>
            <a:srgbClr val="002060"/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dimension: 256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Encoder: 2-layer Bidirectional LSTM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dimension: 128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Decoder: 2-layer LSTM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Optimizer: </a:t>
            </a: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0.001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size: 128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 15 epochs</a:t>
            </a:r>
          </a:p>
          <a:p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0BE21-0153-9F28-59BD-3F75E29367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200" y="3346108"/>
            <a:ext cx="8860447" cy="324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23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5764"/>
            <a:ext cx="4626517" cy="88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112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Training Objective and Molecule Generation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96403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dirty="0">
              <a:solidFill>
                <a:srgbClr val="002060"/>
              </a:solidFill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6726" y="3354436"/>
            <a:ext cx="5203794" cy="292506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00" b="1" kern="0" spc="-30" dirty="0">
              <a:solidFill>
                <a:schemeClr val="bg1"/>
              </a:solidFill>
              <a:latin typeface="Kanit Light" panose="020B0604020202020204" charset="-34"/>
              <a:ea typeface="Inter Bold" pitchFamily="34" charset="-122"/>
              <a:cs typeface="Kanit Light" panose="020B0604020202020204" charset="-34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00" b="1" kern="0" spc="-30" dirty="0">
              <a:solidFill>
                <a:schemeClr val="bg1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b="1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Reconstruction Loss:</a:t>
            </a:r>
            <a:r>
              <a:rPr lang="en-US" sz="1400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Token-level cross-entropy for SMILES reconstruction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b="1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KL Loss:</a:t>
            </a:r>
            <a:r>
              <a:rPr lang="en-US" sz="1400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Regularizes latent distribution toward standard normal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b="1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Property Loss:</a:t>
            </a:r>
            <a:r>
              <a:rPr lang="en-US" sz="1400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Auxiliary prediction of </a:t>
            </a:r>
            <a:r>
              <a:rPr lang="en-US" sz="1400" kern="0" spc="-30" dirty="0" err="1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LogP</a:t>
            </a:r>
            <a:r>
              <a:rPr lang="en-US" sz="1400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QED, and SA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00" kern="0" spc="-30" dirty="0">
              <a:solidFill>
                <a:schemeClr val="bg1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3000"/>
              </a:lnSpc>
              <a:buSzPct val="100000"/>
            </a:pPr>
            <a:r>
              <a:rPr lang="en-US" sz="1400" b="1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β-KL Annealing:</a:t>
            </a:r>
            <a:r>
              <a:rPr lang="en-US" sz="1400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β increases gradually to </a:t>
            </a:r>
            <a:r>
              <a:rPr lang="en-US" sz="1400" b="1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0.05</a:t>
            </a:r>
            <a:r>
              <a:rPr lang="en-US" sz="1400" kern="0" spc="-3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reducing excessive regularization during early training and mitigating posterior collapse.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00" dirty="0">
              <a:solidFill>
                <a:schemeClr val="bg1"/>
              </a:solidFill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1090" y="4306565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B1E46EA8-7F59-48EC-5E2D-A50C581CB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24" y="3497774"/>
            <a:ext cx="5203794" cy="3277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5ED9DB80-172A-E578-19B8-9BF8530443F1}"/>
              </a:ext>
            </a:extLst>
          </p:cNvPr>
          <p:cNvSpPr/>
          <p:nvPr/>
        </p:nvSpPr>
        <p:spPr>
          <a:xfrm>
            <a:off x="6002611" y="2972950"/>
            <a:ext cx="50830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56" dirty="0">
                <a:solidFill>
                  <a:srgbClr val="0070C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SMILES Generation and Evaluation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CCAF08-C596-2CCE-6308-AD47EDA1BEFC}"/>
              </a:ext>
            </a:extLst>
          </p:cNvPr>
          <p:cNvSpPr txBox="1"/>
          <p:nvPr/>
        </p:nvSpPr>
        <p:spPr>
          <a:xfrm>
            <a:off x="6002611" y="3354436"/>
            <a:ext cx="2683817" cy="29238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Protocol</a:t>
            </a:r>
          </a:p>
          <a:p>
            <a:pPr lvl="0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Decoder · Temperature: 0.8 · Top-p: 0.9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RDKit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validation applied to all outputs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molecules generated in batches of 500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9E97931-3FE7-4710-CD15-14176A655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893" y="3913214"/>
            <a:ext cx="1569856" cy="3048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362A3A2-0E6D-AC58-36BE-AF107AB05D4D}"/>
              </a:ext>
            </a:extLst>
          </p:cNvPr>
          <p:cNvSpPr txBox="1"/>
          <p:nvPr/>
        </p:nvSpPr>
        <p:spPr>
          <a:xfrm>
            <a:off x="8907094" y="3354436"/>
            <a:ext cx="2683816" cy="28931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Uniqueness, Novelty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Diversity using Tanimoto distance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Lipinski’s rule of Five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Estimate of drug-likeness(QED)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Accessibility  score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AA361E-262A-7466-CC06-B5AE96A38900}"/>
              </a:ext>
            </a:extLst>
          </p:cNvPr>
          <p:cNvSpPr txBox="1"/>
          <p:nvPr/>
        </p:nvSpPr>
        <p:spPr>
          <a:xfrm>
            <a:off x="9269088" y="3738047"/>
            <a:ext cx="162176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Generation Quality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96167-E08E-87B5-C7B6-72CA1CDDD5F6}"/>
              </a:ext>
            </a:extLst>
          </p:cNvPr>
          <p:cNvSpPr txBox="1"/>
          <p:nvPr/>
        </p:nvSpPr>
        <p:spPr>
          <a:xfrm>
            <a:off x="9325154" y="4908707"/>
            <a:ext cx="14147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400"/>
              <a:t>Drug Likeness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8AAC1-2BC3-9BB9-FDA2-C1997C7D0B30}"/>
              </a:ext>
            </a:extLst>
          </p:cNvPr>
          <p:cNvSpPr txBox="1"/>
          <p:nvPr/>
        </p:nvSpPr>
        <p:spPr>
          <a:xfrm>
            <a:off x="535776" y="2918783"/>
            <a:ext cx="6106884" cy="362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6" dirty="0">
                <a:solidFill>
                  <a:srgbClr val="0070C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Training Loss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684040-74FD-2039-067C-07504EDFE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803" y="1186185"/>
            <a:ext cx="8080393" cy="14645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2365B94-43F3-D66A-64E7-78BE7879F228}"/>
                  </a:ext>
                </a:extLst>
              </p14:cNvPr>
              <p14:cNvContentPartPr/>
              <p14:nvPr/>
            </p14:nvContentPartPr>
            <p14:xfrm>
              <a:off x="11195479" y="6663363"/>
              <a:ext cx="82800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2365B94-43F3-D66A-64E7-78BE7879F2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32479" y="6537363"/>
                <a:ext cx="95364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C6EE76AA-6245-FEA0-7EAB-43DA2FF029D0}"/>
              </a:ext>
            </a:extLst>
          </p:cNvPr>
          <p:cNvGrpSpPr/>
          <p:nvPr/>
        </p:nvGrpSpPr>
        <p:grpSpPr>
          <a:xfrm>
            <a:off x="11167039" y="6721683"/>
            <a:ext cx="914760" cy="39240"/>
            <a:chOff x="11167039" y="6721683"/>
            <a:chExt cx="914760" cy="3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CD1FBE-E0C0-3095-7151-8975AF7425F1}"/>
                    </a:ext>
                  </a:extLst>
                </p14:cNvPr>
                <p14:cNvContentPartPr/>
                <p14:nvPr/>
              </p14:nvContentPartPr>
              <p14:xfrm>
                <a:off x="12081439" y="6721683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CD1FBE-E0C0-3095-7151-8975AF7425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018799" y="66586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E4DEE41-845A-51B3-1B66-49007A8DA622}"/>
                    </a:ext>
                  </a:extLst>
                </p14:cNvPr>
                <p14:cNvContentPartPr/>
                <p14:nvPr/>
              </p14:nvContentPartPr>
              <p14:xfrm>
                <a:off x="11955079" y="6721683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E4DEE41-845A-51B3-1B66-49007A8DA62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92439" y="66586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6003A92-E8B1-D713-AD6E-F518D647EDF0}"/>
                    </a:ext>
                  </a:extLst>
                </p14:cNvPr>
                <p14:cNvContentPartPr/>
                <p14:nvPr/>
              </p14:nvContentPartPr>
              <p14:xfrm>
                <a:off x="11848159" y="6721683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6003A92-E8B1-D713-AD6E-F518D647ED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85159" y="66586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D386D2E-6FF7-2747-F964-5D3812C2DA1F}"/>
                    </a:ext>
                  </a:extLst>
                </p14:cNvPr>
                <p14:cNvContentPartPr/>
                <p14:nvPr/>
              </p14:nvContentPartPr>
              <p14:xfrm>
                <a:off x="11731519" y="6760563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D386D2E-6FF7-2747-F964-5D3812C2DA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668519" y="66975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6B769C-5BF4-C6EF-D32E-E8C33A3F79FF}"/>
                    </a:ext>
                  </a:extLst>
                </p14:cNvPr>
                <p14:cNvContentPartPr/>
                <p14:nvPr/>
              </p14:nvContentPartPr>
              <p14:xfrm>
                <a:off x="11604799" y="6760563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6B769C-5BF4-C6EF-D32E-E8C33A3F79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42159" y="66975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E1667B-49D7-A748-8BE1-AD45475C2EE4}"/>
                    </a:ext>
                  </a:extLst>
                </p14:cNvPr>
                <p14:cNvContentPartPr/>
                <p14:nvPr/>
              </p14:nvContentPartPr>
              <p14:xfrm>
                <a:off x="11468719" y="6760563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E1667B-49D7-A748-8BE1-AD45475C2E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06079" y="66975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3BD74E9-F47E-5C58-D6F8-D7D284C496EF}"/>
                    </a:ext>
                  </a:extLst>
                </p14:cNvPr>
                <p14:cNvContentPartPr/>
                <p14:nvPr/>
              </p14:nvContentPartPr>
              <p14:xfrm>
                <a:off x="11303479" y="6760563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3BD74E9-F47E-5C58-D6F8-D7D284C496E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40479" y="66975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FACBAD0-6632-7742-89F2-72E6DD21A299}"/>
                    </a:ext>
                  </a:extLst>
                </p14:cNvPr>
                <p14:cNvContentPartPr/>
                <p14:nvPr/>
              </p14:nvContentPartPr>
              <p14:xfrm>
                <a:off x="11167039" y="6741123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FACBAD0-6632-7742-89F2-72E6DD21A2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04399" y="66781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734" y="428715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9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Generation Quality: Quantitative Results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756651-D961-1572-B9FA-B5A0BB41CA54}"/>
              </a:ext>
            </a:extLst>
          </p:cNvPr>
          <p:cNvGrpSpPr/>
          <p:nvPr/>
        </p:nvGrpSpPr>
        <p:grpSpPr>
          <a:xfrm>
            <a:off x="1655167" y="1241243"/>
            <a:ext cx="8881359" cy="1156891"/>
            <a:chOff x="661475" y="1005681"/>
            <a:chExt cx="10885364" cy="1313756"/>
          </a:xfrm>
        </p:grpSpPr>
        <p:sp>
          <p:nvSpPr>
            <p:cNvPr id="3" name="Text 1"/>
            <p:cNvSpPr/>
            <p:nvPr/>
          </p:nvSpPr>
          <p:spPr>
            <a:xfrm>
              <a:off x="661475" y="1005681"/>
              <a:ext cx="5401036" cy="3313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600" b="1" kern="0" spc="-78" dirty="0">
                  <a:solidFill>
                    <a:srgbClr val="00206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99.02%</a:t>
              </a:r>
              <a:endPara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661475" y="1412189"/>
              <a:ext cx="5401036" cy="1568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200" b="1" kern="0" spc="-30" dirty="0">
                  <a:solidFill>
                    <a:srgbClr val="00206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Chemical Validity</a:t>
              </a:r>
              <a:endPara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6145803" y="1042958"/>
              <a:ext cx="5401036" cy="3313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600" b="1" kern="0" spc="-78" dirty="0">
                  <a:solidFill>
                    <a:srgbClr val="00206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99.75%</a:t>
              </a:r>
              <a:endPara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6095847" y="1411399"/>
              <a:ext cx="5401036" cy="1568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200" b="1" kern="0" spc="-30" dirty="0">
                  <a:solidFill>
                    <a:srgbClr val="00206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Uniqueness</a:t>
              </a:r>
              <a:endPara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661475" y="1740991"/>
              <a:ext cx="5401036" cy="3313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600" b="1" kern="0" spc="-78" dirty="0">
                  <a:solidFill>
                    <a:srgbClr val="00206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99.65%</a:t>
              </a:r>
              <a:endPara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661475" y="2162572"/>
              <a:ext cx="5401036" cy="1568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200" b="1" kern="0" spc="-30" dirty="0">
                  <a:solidFill>
                    <a:srgbClr val="00206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Exact-Match Novelty</a:t>
              </a:r>
              <a:endPara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129184" y="1740991"/>
              <a:ext cx="5401036" cy="3313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600" b="1" kern="0" spc="-78" dirty="0">
                  <a:solidFill>
                    <a:srgbClr val="00206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84.57%</a:t>
              </a:r>
              <a:endPara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129184" y="2162572"/>
              <a:ext cx="5401036" cy="1568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200" b="1" kern="0" spc="-30" dirty="0">
                  <a:solidFill>
                    <a:srgbClr val="002060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Internal Diversity</a:t>
              </a:r>
              <a:endPara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7" y="2598855"/>
            <a:ext cx="5311940" cy="38235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28147" y="3429000"/>
            <a:ext cx="5311940" cy="46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30" dirty="0">
                <a:solidFill>
                  <a:srgbClr val="00206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Secondary Metrics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28147" y="3874123"/>
            <a:ext cx="5311940" cy="127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b="1" kern="0" spc="-16" dirty="0">
                <a:solidFill>
                  <a:srgbClr val="00206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Mean QED: </a:t>
            </a:r>
            <a:r>
              <a:rPr lang="en-US" b="1" kern="0" spc="-16" dirty="0">
                <a:solidFill>
                  <a:srgbClr val="00206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0.7719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b="1" kern="0" spc="-16" dirty="0">
                <a:solidFill>
                  <a:srgbClr val="00206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Mean SA: </a:t>
            </a:r>
            <a:r>
              <a:rPr lang="en-US" b="1" kern="0" spc="-16" dirty="0">
                <a:solidFill>
                  <a:srgbClr val="00206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2.63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b="1" kern="0" spc="-16" dirty="0">
                <a:solidFill>
                  <a:srgbClr val="00206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Lipinski Compliance: </a:t>
            </a:r>
            <a:r>
              <a:rPr lang="en-US" b="1" kern="0" spc="-16" dirty="0">
                <a:solidFill>
                  <a:srgbClr val="00206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99.98%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328147" y="5038311"/>
            <a:ext cx="5311940" cy="81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kern="0" spc="-16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Generated molecules exhibit high chemical validity while maintaining strong uniqueness, novelty, and internal diversity. Drug-likeness metrics reflect computational estimates — not experimentally validated biological activity.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4F83AB4-8A8D-555C-F957-5C704D45F424}"/>
                  </a:ext>
                </a:extLst>
              </p14:cNvPr>
              <p14:cNvContentPartPr/>
              <p14:nvPr/>
            </p14:nvContentPartPr>
            <p14:xfrm>
              <a:off x="12061999" y="6692523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4F83AB4-8A8D-555C-F957-5C704D45F4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99359" y="662952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0A0C47D-3F8C-E228-46FB-BBF700F63B6E}"/>
                  </a:ext>
                </a:extLst>
              </p14:cNvPr>
              <p14:cNvContentPartPr/>
              <p14:nvPr/>
            </p14:nvContentPartPr>
            <p14:xfrm>
              <a:off x="11050399" y="6585603"/>
              <a:ext cx="885600" cy="175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0A0C47D-3F8C-E228-46FB-BBF700F63B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87759" y="6522603"/>
                <a:ext cx="10112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86AD579-CA39-8913-B5DE-C660BFCE88C9}"/>
                  </a:ext>
                </a:extLst>
              </p14:cNvPr>
              <p14:cNvContentPartPr/>
              <p14:nvPr/>
            </p14:nvContentPartPr>
            <p14:xfrm>
              <a:off x="11113759" y="6689283"/>
              <a:ext cx="345600" cy="32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86AD579-CA39-8913-B5DE-C660BFCE88C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50759" y="6626643"/>
                <a:ext cx="4712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01D864B-AB11-B2E3-579D-420DF71A438D}"/>
                  </a:ext>
                </a:extLst>
              </p14:cNvPr>
              <p14:cNvContentPartPr/>
              <p14:nvPr/>
            </p14:nvContentPartPr>
            <p14:xfrm>
              <a:off x="11604799" y="6536643"/>
              <a:ext cx="457920" cy="69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01D864B-AB11-B2E3-579D-420DF71A43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41799" y="6474003"/>
                <a:ext cx="58356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E7AE332-B34C-2468-8EE9-C06E4984FE56}"/>
              </a:ext>
            </a:extLst>
          </p:cNvPr>
          <p:cNvGrpSpPr/>
          <p:nvPr/>
        </p:nvGrpSpPr>
        <p:grpSpPr>
          <a:xfrm>
            <a:off x="9069319" y="5743923"/>
            <a:ext cx="2983680" cy="1026720"/>
            <a:chOff x="9069319" y="5743923"/>
            <a:chExt cx="298368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00C4205-BADD-D6B3-9E0A-CDB30C3DC2A4}"/>
                    </a:ext>
                  </a:extLst>
                </p14:cNvPr>
                <p14:cNvContentPartPr/>
                <p14:nvPr/>
              </p14:nvContentPartPr>
              <p14:xfrm>
                <a:off x="11546479" y="6770283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00C4205-BADD-D6B3-9E0A-CDB30C3DC2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83839" y="67072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70B022-AE6F-DDBA-BCCE-9FBFE445A82F}"/>
                    </a:ext>
                  </a:extLst>
                </p14:cNvPr>
                <p14:cNvContentPartPr/>
                <p14:nvPr/>
              </p14:nvContentPartPr>
              <p14:xfrm>
                <a:off x="9069319" y="5743923"/>
                <a:ext cx="2983680" cy="1007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70B022-AE6F-DDBA-BCCE-9FBFE445A82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06319" y="5680923"/>
                  <a:ext cx="3109320" cy="1132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C335A0A-15C1-7010-ACCB-27F1EC03C1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9537180"/>
              </p:ext>
            </p:extLst>
          </p:nvPr>
        </p:nvGraphicFramePr>
        <p:xfrm>
          <a:off x="582762" y="1839187"/>
          <a:ext cx="7448431" cy="3674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0">
            <a:extLst>
              <a:ext uri="{FF2B5EF4-FFF2-40B4-BE49-F238E27FC236}">
                <a16:creationId xmlns:a16="http://schemas.microsoft.com/office/drawing/2014/main" id="{61A13AD7-32AD-7555-B33A-C1A4928EBF31}"/>
              </a:ext>
            </a:extLst>
          </p:cNvPr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Training Behavior and Model Interpretation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DE5FE65-B6AD-DBFD-7D6A-B0DA22D42E7A}"/>
              </a:ext>
            </a:extLst>
          </p:cNvPr>
          <p:cNvSpPr/>
          <p:nvPr/>
        </p:nvSpPr>
        <p:spPr>
          <a:xfrm>
            <a:off x="8169332" y="2432647"/>
            <a:ext cx="3688686" cy="183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kern="0" spc="-15" dirty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kern="0" spc="-15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Training loss decreased from </a:t>
            </a:r>
            <a:r>
              <a:rPr lang="en-US" sz="1400" b="1" kern="0" spc="-15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0.9644 → 0.6604</a:t>
            </a:r>
            <a:endParaRPr lang="en-US" sz="1400" kern="0" spc="-15" dirty="0"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kern="0" spc="-15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validation loss from </a:t>
            </a:r>
            <a:r>
              <a:rPr lang="en-US" sz="1400" b="1" kern="0" spc="-15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0.7097 → 0.6331</a:t>
            </a:r>
            <a:endParaRPr lang="en-US" sz="1400" kern="0" spc="-15" dirty="0"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kern="0" spc="-15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Reconstruction loss declined from </a:t>
            </a:r>
            <a:r>
              <a:rPr lang="en-US" sz="1400" b="1" kern="0" spc="-15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0.9017 → 0.5899</a:t>
            </a:r>
            <a:endParaRPr lang="en-US" sz="1400" kern="0" spc="-15" dirty="0"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kern="0" spc="-15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KL loss from </a:t>
            </a:r>
            <a:r>
              <a:rPr lang="en-US" sz="1400" b="1" kern="0" spc="-15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4.5323 → 0.7476</a:t>
            </a:r>
            <a:endParaRPr lang="en-US" sz="1400" kern="0" spc="-15" dirty="0"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400" kern="0" spc="-15" dirty="0"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400" kern="0" spc="-15" dirty="0"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5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Intermediate epoch values are interpolated for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5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visualization</a:t>
            </a:r>
            <a:r>
              <a:rPr lang="en-US" sz="1200" kern="0" spc="-15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AFEA69-5E1E-6959-0B2A-46C5B9692327}"/>
                  </a:ext>
                </a:extLst>
              </p14:cNvPr>
              <p14:cNvContentPartPr/>
              <p14:nvPr/>
            </p14:nvContentPartPr>
            <p14:xfrm>
              <a:off x="11098639" y="6702243"/>
              <a:ext cx="973440" cy="29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AFEA69-5E1E-6959-0B2A-46C5B96923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35999" y="6639243"/>
                <a:ext cx="10990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F7A556-EA84-424C-F805-E2B400B3C250}"/>
                  </a:ext>
                </a:extLst>
              </p14:cNvPr>
              <p14:cNvContentPartPr/>
              <p14:nvPr/>
            </p14:nvContentPartPr>
            <p14:xfrm>
              <a:off x="11157319" y="6604683"/>
              <a:ext cx="856440" cy="3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F7A556-EA84-424C-F805-E2B400B3C2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4679" y="6542043"/>
                <a:ext cx="98208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9542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4C19136-C00F-CAB2-ECC7-1B4E53B25A51}"/>
              </a:ext>
            </a:extLst>
          </p:cNvPr>
          <p:cNvSpPr/>
          <p:nvPr/>
        </p:nvSpPr>
        <p:spPr>
          <a:xfrm>
            <a:off x="667825" y="46390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Research Contributions &amp; Significance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60D52E9-8A43-AC67-B7EB-F167BBC33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28" y="1111534"/>
            <a:ext cx="5410759" cy="202585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A28D599-FCB5-11A1-AE59-2D436DEAB93C}"/>
              </a:ext>
            </a:extLst>
          </p:cNvPr>
          <p:cNvSpPr/>
          <p:nvPr/>
        </p:nvSpPr>
        <p:spPr>
          <a:xfrm>
            <a:off x="3295964" y="972145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F3B1FE9A-5BB0-B320-A37E-864114AE45B8}"/>
              </a:ext>
            </a:extLst>
          </p:cNvPr>
          <p:cNvSpPr/>
          <p:nvPr/>
        </p:nvSpPr>
        <p:spPr>
          <a:xfrm>
            <a:off x="869482" y="1331286"/>
            <a:ext cx="51964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Improved Sequence Representation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649BB8E-C1E4-F72C-1B88-8C6339CFBBE1}"/>
              </a:ext>
            </a:extLst>
          </p:cNvPr>
          <p:cNvSpPr/>
          <p:nvPr/>
        </p:nvSpPr>
        <p:spPr>
          <a:xfrm>
            <a:off x="873996" y="2036008"/>
            <a:ext cx="51964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Investigates bidirectional sequence encoding for capturing richer contextual information from molecular SMILES, enabling more expressive molecular representations.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1F50E943-BBCB-73A4-E571-ED65C7B5ED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2380" y="1088855"/>
            <a:ext cx="5410759" cy="2013779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7A8B8978-0288-952D-BA42-E6BBD1ABBE03}"/>
              </a:ext>
            </a:extLst>
          </p:cNvPr>
          <p:cNvSpPr/>
          <p:nvPr/>
        </p:nvSpPr>
        <p:spPr>
          <a:xfrm>
            <a:off x="8753951" y="972145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E4F0857F-5887-6D04-999D-475DB2F3DB2F}"/>
              </a:ext>
            </a:extLst>
          </p:cNvPr>
          <p:cNvSpPr/>
          <p:nvPr/>
        </p:nvSpPr>
        <p:spPr>
          <a:xfrm>
            <a:off x="6586688" y="1331286"/>
            <a:ext cx="51964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Latent-Space Utilization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2AA669F-4506-DF32-4A7A-64F5DB47BDE4}"/>
              </a:ext>
            </a:extLst>
          </p:cNvPr>
          <p:cNvSpPr/>
          <p:nvPr/>
        </p:nvSpPr>
        <p:spPr>
          <a:xfrm>
            <a:off x="6586687" y="1989794"/>
            <a:ext cx="51964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Addresses weak latent utilization in recurrent VAE-based molecular generation through improved decoder conditioning and KL-annealing strategies.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EBFEB079-753E-86EF-7715-842F909CF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27" y="3356350"/>
            <a:ext cx="5410759" cy="2178292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DC5F6A23-3824-D9BF-80E4-0CF151F458C5}"/>
              </a:ext>
            </a:extLst>
          </p:cNvPr>
          <p:cNvSpPr/>
          <p:nvPr/>
        </p:nvSpPr>
        <p:spPr>
          <a:xfrm>
            <a:off x="3295964" y="1872655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3123AC1A-8FBD-97B4-902E-8AB5BCF6667C}"/>
              </a:ext>
            </a:extLst>
          </p:cNvPr>
          <p:cNvSpPr/>
          <p:nvPr/>
        </p:nvSpPr>
        <p:spPr>
          <a:xfrm>
            <a:off x="923009" y="3629379"/>
            <a:ext cx="51964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Integrated Property Learning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93835C9-6C67-1E67-9223-F5D16F894033}"/>
              </a:ext>
            </a:extLst>
          </p:cNvPr>
          <p:cNvSpPr/>
          <p:nvPr/>
        </p:nvSpPr>
        <p:spPr>
          <a:xfrm>
            <a:off x="869482" y="4402513"/>
            <a:ext cx="51964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Incorporates auxiliary prediction of molecular properties into the learning objective, connecting the latent representation with molecular characteristics.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92575675-FCA5-BCCA-5EE2-832D1076A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5216" y="3376407"/>
            <a:ext cx="5410759" cy="2178292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D3E9EACE-CF7B-B10D-AB85-152C08B997D0}"/>
              </a:ext>
            </a:extLst>
          </p:cNvPr>
          <p:cNvSpPr/>
          <p:nvPr/>
        </p:nvSpPr>
        <p:spPr>
          <a:xfrm>
            <a:off x="8753951" y="1872655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433A091A-905A-C77C-0EEE-AE6832199CB0}"/>
              </a:ext>
            </a:extLst>
          </p:cNvPr>
          <p:cNvSpPr/>
          <p:nvPr/>
        </p:nvSpPr>
        <p:spPr>
          <a:xfrm>
            <a:off x="6586687" y="3641191"/>
            <a:ext cx="51964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Chemical-Space Exploration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11D0C01A-E8C6-7B78-3562-698B0B568F4F}"/>
              </a:ext>
            </a:extLst>
          </p:cNvPr>
          <p:cNvSpPr/>
          <p:nvPr/>
        </p:nvSpPr>
        <p:spPr>
          <a:xfrm>
            <a:off x="6586688" y="4352146"/>
            <a:ext cx="51964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Provides a computational approach for exploring new molecular structures rather than relying only on conventional screening of existing compounds.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0D4B8F41-777D-DD06-2053-BD22E6FD282A}"/>
              </a:ext>
            </a:extLst>
          </p:cNvPr>
          <p:cNvSpPr/>
          <p:nvPr/>
        </p:nvSpPr>
        <p:spPr>
          <a:xfrm>
            <a:off x="2320397" y="583814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C5945B54-6576-89F4-4F68-2548DFAE8D77}"/>
              </a:ext>
            </a:extLst>
          </p:cNvPr>
          <p:cNvSpPr/>
          <p:nvPr/>
        </p:nvSpPr>
        <p:spPr>
          <a:xfrm>
            <a:off x="661475" y="6962676"/>
            <a:ext cx="12700" cy="219571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04483677-12A9-E24C-DF64-952FBC79174F}"/>
              </a:ext>
            </a:extLst>
          </p:cNvPr>
          <p:cNvSpPr/>
          <p:nvPr/>
        </p:nvSpPr>
        <p:spPr>
          <a:xfrm>
            <a:off x="661475" y="7235329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Image 5" descr="preencoded.png">
            <a:extLst>
              <a:ext uri="{FF2B5EF4-FFF2-40B4-BE49-F238E27FC236}">
                <a16:creationId xmlns:a16="http://schemas.microsoft.com/office/drawing/2014/main" id="{85AC3DFA-9833-EE38-2D60-8C6FEDE1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7306171"/>
            <a:ext cx="118067" cy="94456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845DAB6F-F7BF-AE73-0C62-907CD7D54256}"/>
              </a:ext>
            </a:extLst>
          </p:cNvPr>
          <p:cNvSpPr txBox="1"/>
          <p:nvPr/>
        </p:nvSpPr>
        <p:spPr>
          <a:xfrm>
            <a:off x="616562" y="5725439"/>
            <a:ext cx="111494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"Generative molecular modeling does not replace experimental drug discovery; it can support the early-stage exploration and prioritization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of candidate structures."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54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699781-847A-C2A6-4468-DFCB3A25B8DB}"/>
              </a:ext>
            </a:extLst>
          </p:cNvPr>
          <p:cNvSpPr txBox="1"/>
          <p:nvPr/>
        </p:nvSpPr>
        <p:spPr>
          <a:xfrm>
            <a:off x="616015" y="837398"/>
            <a:ext cx="298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8E04D7-1402-B5EB-4D9C-1BCA24FE7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42" y="1724726"/>
            <a:ext cx="5755907" cy="36794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D0D116-D411-9DCB-531E-C68D70819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555" y="2839453"/>
            <a:ext cx="5396565" cy="369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28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8A26D57E-B776-115A-E2CE-93DBF903BDCA}"/>
              </a:ext>
            </a:extLst>
          </p:cNvPr>
          <p:cNvSpPr/>
          <p:nvPr/>
        </p:nvSpPr>
        <p:spPr>
          <a:xfrm>
            <a:off x="745450" y="7862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72D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EE7242D-5076-4DFF-5B95-AD89A67242C4}"/>
              </a:ext>
            </a:extLst>
          </p:cNvPr>
          <p:cNvSpPr/>
          <p:nvPr/>
        </p:nvSpPr>
        <p:spPr>
          <a:xfrm>
            <a:off x="661475" y="5346402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204C8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A596027E-039A-F5DE-C06F-DDA5784E5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69" y="5577880"/>
            <a:ext cx="206667" cy="165298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9FD0ABEB-764F-A66A-A526-CCF57CB6804E}"/>
              </a:ext>
            </a:extLst>
          </p:cNvPr>
          <p:cNvSpPr/>
          <p:nvPr/>
        </p:nvSpPr>
        <p:spPr>
          <a:xfrm>
            <a:off x="1198731" y="554474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Computational molecules still need chemical, biological, and experimental validation before drug-discovery claims can be made.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5BC3C9F-00B6-A159-3013-6B1C1E75EA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4097576"/>
              </p:ext>
            </p:extLst>
          </p:nvPr>
        </p:nvGraphicFramePr>
        <p:xfrm>
          <a:off x="977506" y="1357404"/>
          <a:ext cx="10236680" cy="4642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664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B5A53A-39EF-6832-5EF8-C36FBB331B48}"/>
              </a:ext>
            </a:extLst>
          </p:cNvPr>
          <p:cNvSpPr/>
          <p:nvPr/>
        </p:nvSpPr>
        <p:spPr>
          <a:xfrm>
            <a:off x="661475" y="6905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Future Scope &amp; Conclusion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DED338D-972D-30E9-0433-9B4B7B34BFFD}"/>
              </a:ext>
            </a:extLst>
          </p:cNvPr>
          <p:cNvSpPr/>
          <p:nvPr/>
        </p:nvSpPr>
        <p:spPr>
          <a:xfrm>
            <a:off x="3498427" y="1676945"/>
            <a:ext cx="1301056" cy="20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33E8269-9FCA-9FB4-6000-FC817B772B69}"/>
              </a:ext>
            </a:extLst>
          </p:cNvPr>
          <p:cNvSpPr/>
          <p:nvPr/>
        </p:nvSpPr>
        <p:spPr>
          <a:xfrm>
            <a:off x="3498427" y="1935197"/>
            <a:ext cx="1301056" cy="321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10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796C4B3-2BF0-4CA5-835E-38A0E7C9F7A2}"/>
              </a:ext>
            </a:extLst>
          </p:cNvPr>
          <p:cNvSpPr/>
          <p:nvPr/>
        </p:nvSpPr>
        <p:spPr>
          <a:xfrm>
            <a:off x="4785185" y="4186188"/>
            <a:ext cx="1308204" cy="20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8297275-96D7-79C0-C616-C83214B3F688}"/>
              </a:ext>
            </a:extLst>
          </p:cNvPr>
          <p:cNvSpPr/>
          <p:nvPr/>
        </p:nvSpPr>
        <p:spPr>
          <a:xfrm>
            <a:off x="6057647" y="1551394"/>
            <a:ext cx="1301056" cy="402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8B8F08AF-3C1B-8DB0-0B65-175D1D0F8DB0}"/>
              </a:ext>
            </a:extLst>
          </p:cNvPr>
          <p:cNvSpPr/>
          <p:nvPr/>
        </p:nvSpPr>
        <p:spPr>
          <a:xfrm>
            <a:off x="661475" y="513169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Conclusion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4441898-EF82-1FCF-B874-BAFA184F2ADC}"/>
              </a:ext>
            </a:extLst>
          </p:cNvPr>
          <p:cNvSpPr/>
          <p:nvPr/>
        </p:nvSpPr>
        <p:spPr>
          <a:xfrm>
            <a:off x="661475" y="563820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</a:t>
            </a:r>
            <a:r>
              <a:rPr lang="en-US" sz="13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LSTM-based VAE with a bidirectional encoder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is an effective framework for de novo molecular generation,  the creation of novel molecules, but its outputs must still be supported by validation to ensure chemical and biological relevance.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C1127B2-C193-E739-685F-CBF64CE35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448" y="1229915"/>
            <a:ext cx="8817104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9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F2414-CE39-10ED-D2A9-384B207A59FD}"/>
              </a:ext>
            </a:extLst>
          </p:cNvPr>
          <p:cNvSpPr txBox="1"/>
          <p:nvPr/>
        </p:nvSpPr>
        <p:spPr>
          <a:xfrm>
            <a:off x="734273" y="548108"/>
            <a:ext cx="259878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00822-052C-A995-D14B-1367FD3E3492}"/>
              </a:ext>
            </a:extLst>
          </p:cNvPr>
          <p:cNvSpPr txBox="1"/>
          <p:nvPr/>
        </p:nvSpPr>
        <p:spPr>
          <a:xfrm>
            <a:off x="396807" y="1286772"/>
            <a:ext cx="11398386" cy="525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0000"/>
              </a:lnSpc>
              <a:buSzPts val="800"/>
              <a:buFont typeface="Times New Roman" panose="02020603050405020304" pitchFamily="18" charset="0"/>
              <a:buAutoNum type="arabicPeriod"/>
            </a:pP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X. Tang, H. Dai, E. Knight, F. Wu, Y. Li, T. Li, and M. Gerstein, “A survey of generative AI for de novo drug design: New frontiers in molecule and protein generation,” </a:t>
            </a:r>
            <a:r>
              <a:rPr lang="en-IN" sz="1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Briefings in Bioinformatics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25, no. 4, Art. no. bbae338, 2024,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10.1093/bib/bbae338. </a:t>
            </a:r>
          </a:p>
          <a:p>
            <a:pPr marL="342900" lvl="0" indent="-342900" algn="just">
              <a:lnSpc>
                <a:spcPct val="100000"/>
              </a:lnSpc>
              <a:buSzPts val="800"/>
              <a:buFont typeface="Times New Roman" panose="02020603050405020304" pitchFamily="18" charset="0"/>
              <a:buAutoNum type="arabicPeriod"/>
            </a:pPr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SzPts val="800"/>
              <a:buFont typeface="Times New Roman" panose="02020603050405020304" pitchFamily="18" charset="0"/>
              <a:buAutoNum type="arabicPeriod"/>
            </a:pP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R. Gómez-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Bombarelli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J. N. Wei, D.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Duvenaud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J. M. Hernández-Lobato, B. Sánchez-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Lengeling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Sheberla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J. Aguilera-Iparraguirre, T. D. Hirzel, R. P. Adams, and A.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Aspuru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-Guzik, “Automatic chemical design using a data-driven continuous representation of molecules,” </a:t>
            </a:r>
            <a:r>
              <a:rPr lang="en-IN" sz="1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ACS Central Science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4, no. 2, pp. 268–276, 2018,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10.1021/acscentsci.7b00572. </a:t>
            </a:r>
          </a:p>
          <a:p>
            <a:pPr marL="342900" lvl="0" indent="-342900" algn="just">
              <a:lnSpc>
                <a:spcPct val="100000"/>
              </a:lnSpc>
              <a:buSzPts val="800"/>
              <a:buFont typeface="Times New Roman" panose="02020603050405020304" pitchFamily="18" charset="0"/>
              <a:buAutoNum type="arabicPeriod"/>
            </a:pPr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SzPts val="800"/>
              <a:buFont typeface="Times New Roman" panose="02020603050405020304" pitchFamily="18" charset="0"/>
              <a:buAutoNum type="arabicPeriod"/>
            </a:pP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Gupta, A. T. Müller, B. J. H. Huisman, J. A. Fuchs, P. Schneider, and G. Schneider, “Generative recurrent networks for de novo drug design,” </a:t>
            </a:r>
            <a:r>
              <a:rPr lang="en-IN" sz="1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Molecular Informatics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37, nos. 1–2, Art. no. 1700111, 2018,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10.1002/minf.201700111. </a:t>
            </a:r>
          </a:p>
          <a:p>
            <a:pPr marL="342900" lvl="0" indent="-342900" algn="just">
              <a:lnSpc>
                <a:spcPct val="100000"/>
              </a:lnSpc>
              <a:buSzPts val="800"/>
              <a:buFont typeface="Times New Roman" panose="02020603050405020304" pitchFamily="18" charset="0"/>
              <a:buAutoNum type="arabicPeriod"/>
            </a:pPr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SzPts val="800"/>
              <a:buFont typeface="Times New Roman" panose="02020603050405020304" pitchFamily="18" charset="0"/>
              <a:buAutoNum type="arabicPeriod"/>
            </a:pP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M. H. S. Segler, T.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Kogej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C.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Tyrchan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M. P. Waller, “Generating focused molecule libraries for drug discovery with recurrent neural networks,” </a:t>
            </a:r>
            <a:r>
              <a:rPr lang="en-IN" sz="1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ACS Central Science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4, no. 1, pp. 120–131, 2018,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10.1021/acscentsci.7b00512.</a:t>
            </a:r>
          </a:p>
          <a:p>
            <a:pPr marL="342900" lvl="0" indent="-342900" algn="just">
              <a:lnSpc>
                <a:spcPct val="100000"/>
              </a:lnSpc>
              <a:buSzPts val="800"/>
              <a:buFont typeface="Times New Roman" panose="02020603050405020304" pitchFamily="18" charset="0"/>
              <a:buAutoNum type="arabicPeriod"/>
            </a:pPr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800"/>
              <a:buFont typeface="Times New Roman" panose="02020603050405020304" pitchFamily="18" charset="0"/>
              <a:buAutoNum type="arabicPeriod"/>
            </a:pP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Yan, S. Wang, J. Yang, T. Xu, and J. Huang, “Re-balancing variational autoencoder loss for molecule sequence generation,” in </a:t>
            </a:r>
            <a:r>
              <a:rPr lang="en-IN" sz="1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Proc. 11th ACM Int. Conf. Bioinformatics, Computational Biology and Health Informatics (BCB)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2020, pp. 1–7, </a:t>
            </a:r>
            <a:r>
              <a:rPr lang="en-IN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10.1145/3388440.3412458.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800"/>
              <a:buFont typeface="Times New Roman" panose="02020603050405020304" pitchFamily="18" charset="0"/>
              <a:buAutoNum type="arabicPeriod"/>
            </a:pPr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800"/>
              <a:buFont typeface="Times New Roman" panose="02020603050405020304" pitchFamily="18" charset="0"/>
              <a:buAutoNum type="arabicPeriod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J. Lim, S. Ryu, J. W. Kim, and W. Y. Kim, “Molecular generative model based on conditional variational autoencoder for de novo molecular design,” </a:t>
            </a:r>
            <a:r>
              <a:rPr lang="en-IN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Journal of Cheminformatics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10, Art. no. 31, 2018,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10.1186/s13321-018-0286-7. </a:t>
            </a:r>
          </a:p>
          <a:p>
            <a:pPr marL="342900" lvl="0" indent="-342900" algn="just">
              <a:buSzPts val="800"/>
              <a:buFont typeface="Times New Roman" panose="02020603050405020304" pitchFamily="18" charset="0"/>
              <a:buAutoNum type="arabicPeriod"/>
            </a:pP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800"/>
              <a:buFont typeface="Times New Roman" panose="02020603050405020304" pitchFamily="18" charset="0"/>
              <a:buAutoNum type="arabicPeriod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R. J. Richards and A. M. Groener, “Conditional β-VAE for de novo molecular generation,” </a:t>
            </a:r>
            <a:r>
              <a:rPr lang="en-IN" sz="1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preprint arXiv:2205.01592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2022,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10.48550/arXiv.2205.01592. </a:t>
            </a:r>
            <a:endParaRPr lang="en-IN" sz="1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800"/>
              <a:buFont typeface="Times New Roman" panose="02020603050405020304" pitchFamily="18" charset="0"/>
              <a:buAutoNum type="arabicPeriod"/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W. Jin, R. Barzilay, and T. Jaakkola, “Junction tree variational autoencoder for molecular graph generation,” in </a:t>
            </a:r>
            <a:r>
              <a:rPr lang="en-IN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Proc. 35th Int. Conf. Machine Learning</a:t>
            </a: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80, 2018, pp. 2323–2332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372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0F4FC6-1DB5-4E5C-7254-4BA1124F1356}"/>
              </a:ext>
            </a:extLst>
          </p:cNvPr>
          <p:cNvSpPr txBox="1"/>
          <p:nvPr/>
        </p:nvSpPr>
        <p:spPr>
          <a:xfrm>
            <a:off x="3326861" y="2140085"/>
            <a:ext cx="48351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</a:p>
          <a:p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553C7E-3F8D-59A4-3BC6-D92375DED93C}"/>
                  </a:ext>
                </a:extLst>
              </p14:cNvPr>
              <p14:cNvContentPartPr/>
              <p14:nvPr/>
            </p14:nvContentPartPr>
            <p14:xfrm>
              <a:off x="11137879" y="6711243"/>
              <a:ext cx="885960" cy="10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553C7E-3F8D-59A4-3BC6-D92375DED9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74879" y="6648243"/>
                <a:ext cx="101160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3FAC82F-C9B1-45AA-0A3F-F5D2C37CF34B}"/>
              </a:ext>
            </a:extLst>
          </p:cNvPr>
          <p:cNvGrpSpPr/>
          <p:nvPr/>
        </p:nvGrpSpPr>
        <p:grpSpPr>
          <a:xfrm>
            <a:off x="11080279" y="6311283"/>
            <a:ext cx="1018440" cy="421560"/>
            <a:chOff x="11080279" y="6311283"/>
            <a:chExt cx="10184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A6E563B-446C-35DF-9E2E-E8390FFB1D81}"/>
                    </a:ext>
                  </a:extLst>
                </p14:cNvPr>
                <p14:cNvContentPartPr/>
                <p14:nvPr/>
              </p14:nvContentPartPr>
              <p14:xfrm>
                <a:off x="11080279" y="6467883"/>
                <a:ext cx="1018440" cy="264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A6E563B-446C-35DF-9E2E-E8390FFB1D8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17639" y="6405243"/>
                  <a:ext cx="11440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ADFB96-DDE8-3241-47B1-166B63728BDC}"/>
                    </a:ext>
                  </a:extLst>
                </p14:cNvPr>
                <p14:cNvContentPartPr/>
                <p14:nvPr/>
              </p14:nvContentPartPr>
              <p14:xfrm>
                <a:off x="11750959" y="6468603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ADFB96-DDE8-3241-47B1-166B63728B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87959" y="64059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51DF8AD-D74D-A455-25E6-3A28590D1079}"/>
                    </a:ext>
                  </a:extLst>
                </p14:cNvPr>
                <p14:cNvContentPartPr/>
                <p14:nvPr/>
              </p14:nvContentPartPr>
              <p14:xfrm>
                <a:off x="11383399" y="6311283"/>
                <a:ext cx="367920" cy="171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51DF8AD-D74D-A455-25E6-3A28590D10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20399" y="6248643"/>
                  <a:ext cx="493560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66BE01D-BC82-9635-91E8-C6C599467426}"/>
                  </a:ext>
                </a:extLst>
              </p14:cNvPr>
              <p14:cNvContentPartPr/>
              <p14:nvPr/>
            </p14:nvContentPartPr>
            <p14:xfrm>
              <a:off x="11925919" y="659532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66BE01D-BC82-9635-91E8-C6C5994674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63279" y="653232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2ECC158-A423-1D4C-9CC7-66FF067BD62C}"/>
                  </a:ext>
                </a:extLst>
              </p14:cNvPr>
              <p14:cNvContentPartPr/>
              <p14:nvPr/>
            </p14:nvContentPartPr>
            <p14:xfrm>
              <a:off x="11925919" y="659532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2ECC158-A423-1D4C-9CC7-66FF067BD6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63279" y="653232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B301D4F-66CF-E2EA-C098-77A25FB33ED3}"/>
                  </a:ext>
                </a:extLst>
              </p14:cNvPr>
              <p14:cNvContentPartPr/>
              <p14:nvPr/>
            </p14:nvContentPartPr>
            <p14:xfrm>
              <a:off x="11857879" y="659532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B301D4F-66CF-E2EA-C098-77A25FB33E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94879" y="653232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08295F5-8AA4-256D-2633-938E65D3B2F9}"/>
                  </a:ext>
                </a:extLst>
              </p14:cNvPr>
              <p14:cNvContentPartPr/>
              <p14:nvPr/>
            </p14:nvContentPartPr>
            <p14:xfrm>
              <a:off x="11721799" y="658560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08295F5-8AA4-256D-2633-938E65D3B2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58799" y="652260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DBE6C08-C2FE-65A7-DFB3-E6965C1EFAC7}"/>
                  </a:ext>
                </a:extLst>
              </p14:cNvPr>
              <p14:cNvContentPartPr/>
              <p14:nvPr/>
            </p14:nvContentPartPr>
            <p14:xfrm>
              <a:off x="11517319" y="6566163"/>
              <a:ext cx="1944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DBE6C08-C2FE-65A7-DFB3-E6965C1EFA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54679" y="6503163"/>
                <a:ext cx="1450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7B08881-7D43-5F87-5E54-F2C38BAAA3C5}"/>
                  </a:ext>
                </a:extLst>
              </p14:cNvPr>
              <p14:cNvContentPartPr/>
              <p14:nvPr/>
            </p14:nvContentPartPr>
            <p14:xfrm>
              <a:off x="11239039" y="6566163"/>
              <a:ext cx="395640" cy="4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7B08881-7D43-5F87-5E54-F2C38BAAA3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176039" y="6503163"/>
                <a:ext cx="5212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EED2843-0BC4-81C4-95B4-0E918ED2E223}"/>
                  </a:ext>
                </a:extLst>
              </p14:cNvPr>
              <p14:cNvContentPartPr/>
              <p14:nvPr/>
            </p14:nvContentPartPr>
            <p14:xfrm>
              <a:off x="11225359" y="6575883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EED2843-0BC4-81C4-95B4-0E918ED2E2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62719" y="651288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5739E93-8F5E-4DE3-1D5B-1C63A3A6D71B}"/>
                  </a:ext>
                </a:extLst>
              </p14:cNvPr>
              <p14:cNvContentPartPr/>
              <p14:nvPr/>
            </p14:nvContentPartPr>
            <p14:xfrm>
              <a:off x="11225359" y="6575883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5739E93-8F5E-4DE3-1D5B-1C63A3A6D7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62719" y="651288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463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1405</Words>
  <Application>Microsoft Office PowerPoint</Application>
  <PresentationFormat>Widescreen</PresentationFormat>
  <Paragraphs>180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Martel Sans</vt:lpstr>
      <vt:lpstr>Inter</vt:lpstr>
      <vt:lpstr>Kanit Light</vt:lpstr>
      <vt:lpstr>Martel Sans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ANUSHKA TAYAL</dc:creator>
  <cp:lastModifiedBy>Anamika choudhary</cp:lastModifiedBy>
  <cp:revision>6</cp:revision>
  <dcterms:created xsi:type="dcterms:W3CDTF">2026-09-10T22:35:06Z</dcterms:created>
  <dcterms:modified xsi:type="dcterms:W3CDTF">2026-09-14T19:14:37Z</dcterms:modified>
</cp:coreProperties>
</file>